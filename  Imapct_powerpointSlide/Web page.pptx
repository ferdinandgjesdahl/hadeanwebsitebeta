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Lst>
  <p:sldSz cx="11912600" cy="20104100"/>
  <p:notesSz cx="11912600" cy="201041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50" d="100"/>
          <a:sy n="50" d="100"/>
        </p:scale>
        <p:origin x="1710" y="-36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893921" y="6232271"/>
            <a:ext cx="10131108" cy="4221861"/>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787842" y="11258296"/>
            <a:ext cx="8343265" cy="5026025"/>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000" b="0" i="0">
                <a:solidFill>
                  <a:srgbClr val="A1AEC1"/>
                </a:solidFill>
                <a:latin typeface="Arial"/>
                <a:cs typeface="Arial"/>
              </a:defRPr>
            </a:lvl1pPr>
          </a:lstStyle>
          <a:p>
            <a:pPr marL="12700">
              <a:lnSpc>
                <a:spcPct val="100000"/>
              </a:lnSpc>
            </a:pPr>
            <a:r>
              <a:rPr spc="65" dirty="0"/>
              <a:t>Illustrative</a:t>
            </a:r>
            <a:r>
              <a:rPr dirty="0"/>
              <a:t> </a:t>
            </a:r>
            <a:r>
              <a:rPr spc="75" dirty="0"/>
              <a:t>layout</a:t>
            </a:r>
            <a:r>
              <a:rPr spc="70" dirty="0"/>
              <a:t> </a:t>
            </a:r>
            <a:r>
              <a:rPr spc="65" dirty="0"/>
              <a:t>for</a:t>
            </a:r>
            <a:r>
              <a:rPr spc="55" dirty="0"/>
              <a:t> </a:t>
            </a:r>
            <a:r>
              <a:rPr spc="20" dirty="0"/>
              <a:t>discussion.</a:t>
            </a:r>
            <a:r>
              <a:rPr spc="110" dirty="0"/>
              <a:t> </a:t>
            </a:r>
            <a:r>
              <a:rPr spc="50" dirty="0"/>
              <a:t>Webpage</a:t>
            </a:r>
            <a:r>
              <a:rPr spc="55" dirty="0"/>
              <a:t> </a:t>
            </a:r>
            <a:r>
              <a:rPr spc="60" dirty="0"/>
              <a:t>copy</a:t>
            </a:r>
            <a:r>
              <a:rPr spc="100" dirty="0"/>
              <a:t> </a:t>
            </a:r>
            <a:r>
              <a:rPr spc="50" dirty="0"/>
              <a:t>should</a:t>
            </a:r>
            <a:r>
              <a:rPr spc="65" dirty="0"/>
              <a:t> be</a:t>
            </a:r>
            <a:r>
              <a:rPr spc="90" dirty="0"/>
              <a:t> </a:t>
            </a:r>
            <a:r>
              <a:rPr spc="65" dirty="0"/>
              <a:t>reviewed</a:t>
            </a:r>
            <a:r>
              <a:rPr spc="35" dirty="0"/>
              <a:t> </a:t>
            </a:r>
            <a:r>
              <a:rPr spc="60" dirty="0"/>
              <a:t>against</a:t>
            </a:r>
            <a:r>
              <a:rPr spc="75" dirty="0"/>
              <a:t> </a:t>
            </a:r>
            <a:r>
              <a:rPr spc="65" dirty="0"/>
              <a:t>final</a:t>
            </a:r>
            <a:r>
              <a:rPr spc="25" dirty="0"/>
              <a:t> </a:t>
            </a:r>
            <a:r>
              <a:rPr spc="55" dirty="0"/>
              <a:t>transaction</a:t>
            </a:r>
            <a:r>
              <a:rPr spc="100" dirty="0"/>
              <a:t> </a:t>
            </a:r>
            <a:r>
              <a:rPr spc="75" dirty="0"/>
              <a:t>status</a:t>
            </a:r>
            <a:r>
              <a:rPr spc="5" dirty="0"/>
              <a:t> </a:t>
            </a:r>
            <a:r>
              <a:rPr spc="100" dirty="0"/>
              <a:t>and</a:t>
            </a:r>
            <a:r>
              <a:rPr spc="40" dirty="0"/>
              <a:t> </a:t>
            </a:r>
            <a:r>
              <a:rPr spc="110" dirty="0"/>
              <a:t>legal/</a:t>
            </a:r>
            <a:r>
              <a:rPr spc="-15" dirty="0"/>
              <a:t> </a:t>
            </a:r>
            <a:r>
              <a:rPr spc="65" dirty="0"/>
              <a:t>compliance</a:t>
            </a:r>
            <a:r>
              <a:rPr spc="75" dirty="0"/>
              <a:t> </a:t>
            </a:r>
            <a:r>
              <a:rPr spc="65" dirty="0"/>
              <a:t>requirements</a:t>
            </a:r>
            <a:r>
              <a:rPr spc="95" dirty="0"/>
              <a:t> </a:t>
            </a:r>
            <a:r>
              <a:rPr spc="75" dirty="0"/>
              <a:t>before</a:t>
            </a:r>
            <a:r>
              <a:rPr spc="-50" dirty="0"/>
              <a:t> </a:t>
            </a:r>
            <a:r>
              <a:rPr spc="55" dirty="0"/>
              <a:t>publication.</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4/30/2026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defRPr sz="1000" b="0" i="0">
                <a:solidFill>
                  <a:srgbClr val="A1AEC1"/>
                </a:solidFill>
                <a:latin typeface="Arial"/>
                <a:cs typeface="Arial"/>
              </a:defRPr>
            </a:lvl1pPr>
          </a:lstStyle>
          <a:p>
            <a:pPr marL="12700">
              <a:lnSpc>
                <a:spcPct val="100000"/>
              </a:lnSpc>
            </a:pPr>
            <a:r>
              <a:rPr spc="65" dirty="0"/>
              <a:t>Illustrative</a:t>
            </a:r>
            <a:r>
              <a:rPr dirty="0"/>
              <a:t> </a:t>
            </a:r>
            <a:r>
              <a:rPr spc="75" dirty="0"/>
              <a:t>layout</a:t>
            </a:r>
            <a:r>
              <a:rPr spc="70" dirty="0"/>
              <a:t> </a:t>
            </a:r>
            <a:r>
              <a:rPr spc="65" dirty="0"/>
              <a:t>for</a:t>
            </a:r>
            <a:r>
              <a:rPr spc="55" dirty="0"/>
              <a:t> </a:t>
            </a:r>
            <a:r>
              <a:rPr spc="20" dirty="0"/>
              <a:t>discussion.</a:t>
            </a:r>
            <a:r>
              <a:rPr spc="110" dirty="0"/>
              <a:t> </a:t>
            </a:r>
            <a:r>
              <a:rPr spc="50" dirty="0"/>
              <a:t>Webpage</a:t>
            </a:r>
            <a:r>
              <a:rPr spc="55" dirty="0"/>
              <a:t> </a:t>
            </a:r>
            <a:r>
              <a:rPr spc="60" dirty="0"/>
              <a:t>copy</a:t>
            </a:r>
            <a:r>
              <a:rPr spc="100" dirty="0"/>
              <a:t> </a:t>
            </a:r>
            <a:r>
              <a:rPr spc="50" dirty="0"/>
              <a:t>should</a:t>
            </a:r>
            <a:r>
              <a:rPr spc="65" dirty="0"/>
              <a:t> be</a:t>
            </a:r>
            <a:r>
              <a:rPr spc="90" dirty="0"/>
              <a:t> </a:t>
            </a:r>
            <a:r>
              <a:rPr spc="65" dirty="0"/>
              <a:t>reviewed</a:t>
            </a:r>
            <a:r>
              <a:rPr spc="35" dirty="0"/>
              <a:t> </a:t>
            </a:r>
            <a:r>
              <a:rPr spc="60" dirty="0"/>
              <a:t>against</a:t>
            </a:r>
            <a:r>
              <a:rPr spc="75" dirty="0"/>
              <a:t> </a:t>
            </a:r>
            <a:r>
              <a:rPr spc="65" dirty="0"/>
              <a:t>final</a:t>
            </a:r>
            <a:r>
              <a:rPr spc="25" dirty="0"/>
              <a:t> </a:t>
            </a:r>
            <a:r>
              <a:rPr spc="55" dirty="0"/>
              <a:t>transaction</a:t>
            </a:r>
            <a:r>
              <a:rPr spc="100" dirty="0"/>
              <a:t> </a:t>
            </a:r>
            <a:r>
              <a:rPr spc="75" dirty="0"/>
              <a:t>status</a:t>
            </a:r>
            <a:r>
              <a:rPr spc="5" dirty="0"/>
              <a:t> </a:t>
            </a:r>
            <a:r>
              <a:rPr spc="100" dirty="0"/>
              <a:t>and</a:t>
            </a:r>
            <a:r>
              <a:rPr spc="40" dirty="0"/>
              <a:t> </a:t>
            </a:r>
            <a:r>
              <a:rPr spc="110" dirty="0"/>
              <a:t>legal/</a:t>
            </a:r>
            <a:r>
              <a:rPr spc="-15" dirty="0"/>
              <a:t> </a:t>
            </a:r>
            <a:r>
              <a:rPr spc="65" dirty="0"/>
              <a:t>compliance</a:t>
            </a:r>
            <a:r>
              <a:rPr spc="75" dirty="0"/>
              <a:t> </a:t>
            </a:r>
            <a:r>
              <a:rPr spc="65" dirty="0"/>
              <a:t>requirements</a:t>
            </a:r>
            <a:r>
              <a:rPr spc="95" dirty="0"/>
              <a:t> </a:t>
            </a:r>
            <a:r>
              <a:rPr spc="75" dirty="0"/>
              <a:t>before</a:t>
            </a:r>
            <a:r>
              <a:rPr spc="-50" dirty="0"/>
              <a:t> </a:t>
            </a:r>
            <a:r>
              <a:rPr spc="55" dirty="0"/>
              <a:t>publication.</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4/30/2026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sz="half" idx="2"/>
          </p:nvPr>
        </p:nvSpPr>
        <p:spPr>
          <a:xfrm>
            <a:off x="595947" y="4623943"/>
            <a:ext cx="5184743" cy="13268707"/>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138259" y="4623943"/>
            <a:ext cx="5184743" cy="13268707"/>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000" b="0" i="0">
                <a:solidFill>
                  <a:srgbClr val="A1AEC1"/>
                </a:solidFill>
                <a:latin typeface="Arial"/>
                <a:cs typeface="Arial"/>
              </a:defRPr>
            </a:lvl1pPr>
          </a:lstStyle>
          <a:p>
            <a:pPr marL="12700">
              <a:lnSpc>
                <a:spcPct val="100000"/>
              </a:lnSpc>
            </a:pPr>
            <a:r>
              <a:rPr spc="65" dirty="0"/>
              <a:t>Illustrative</a:t>
            </a:r>
            <a:r>
              <a:rPr dirty="0"/>
              <a:t> </a:t>
            </a:r>
            <a:r>
              <a:rPr spc="75" dirty="0"/>
              <a:t>layout</a:t>
            </a:r>
            <a:r>
              <a:rPr spc="70" dirty="0"/>
              <a:t> </a:t>
            </a:r>
            <a:r>
              <a:rPr spc="65" dirty="0"/>
              <a:t>for</a:t>
            </a:r>
            <a:r>
              <a:rPr spc="55" dirty="0"/>
              <a:t> </a:t>
            </a:r>
            <a:r>
              <a:rPr spc="20" dirty="0"/>
              <a:t>discussion.</a:t>
            </a:r>
            <a:r>
              <a:rPr spc="110" dirty="0"/>
              <a:t> </a:t>
            </a:r>
            <a:r>
              <a:rPr spc="50" dirty="0"/>
              <a:t>Webpage</a:t>
            </a:r>
            <a:r>
              <a:rPr spc="55" dirty="0"/>
              <a:t> </a:t>
            </a:r>
            <a:r>
              <a:rPr spc="60" dirty="0"/>
              <a:t>copy</a:t>
            </a:r>
            <a:r>
              <a:rPr spc="100" dirty="0"/>
              <a:t> </a:t>
            </a:r>
            <a:r>
              <a:rPr spc="50" dirty="0"/>
              <a:t>should</a:t>
            </a:r>
            <a:r>
              <a:rPr spc="65" dirty="0"/>
              <a:t> be</a:t>
            </a:r>
            <a:r>
              <a:rPr spc="90" dirty="0"/>
              <a:t> </a:t>
            </a:r>
            <a:r>
              <a:rPr spc="65" dirty="0"/>
              <a:t>reviewed</a:t>
            </a:r>
            <a:r>
              <a:rPr spc="35" dirty="0"/>
              <a:t> </a:t>
            </a:r>
            <a:r>
              <a:rPr spc="60" dirty="0"/>
              <a:t>against</a:t>
            </a:r>
            <a:r>
              <a:rPr spc="75" dirty="0"/>
              <a:t> </a:t>
            </a:r>
            <a:r>
              <a:rPr spc="65" dirty="0"/>
              <a:t>final</a:t>
            </a:r>
            <a:r>
              <a:rPr spc="25" dirty="0"/>
              <a:t> </a:t>
            </a:r>
            <a:r>
              <a:rPr spc="55" dirty="0"/>
              <a:t>transaction</a:t>
            </a:r>
            <a:r>
              <a:rPr spc="100" dirty="0"/>
              <a:t> </a:t>
            </a:r>
            <a:r>
              <a:rPr spc="75" dirty="0"/>
              <a:t>status</a:t>
            </a:r>
            <a:r>
              <a:rPr spc="5" dirty="0"/>
              <a:t> </a:t>
            </a:r>
            <a:r>
              <a:rPr spc="100" dirty="0"/>
              <a:t>and</a:t>
            </a:r>
            <a:r>
              <a:rPr spc="40" dirty="0"/>
              <a:t> </a:t>
            </a:r>
            <a:r>
              <a:rPr spc="110" dirty="0"/>
              <a:t>legal/</a:t>
            </a:r>
            <a:r>
              <a:rPr spc="-15" dirty="0"/>
              <a:t> </a:t>
            </a:r>
            <a:r>
              <a:rPr spc="65" dirty="0"/>
              <a:t>compliance</a:t>
            </a:r>
            <a:r>
              <a:rPr spc="75" dirty="0"/>
              <a:t> </a:t>
            </a:r>
            <a:r>
              <a:rPr spc="65" dirty="0"/>
              <a:t>requirements</a:t>
            </a:r>
            <a:r>
              <a:rPr spc="95" dirty="0"/>
              <a:t> </a:t>
            </a:r>
            <a:r>
              <a:rPr spc="75" dirty="0"/>
              <a:t>before</a:t>
            </a:r>
            <a:r>
              <a:rPr spc="-50" dirty="0"/>
              <a:t> </a:t>
            </a:r>
            <a:r>
              <a:rPr spc="55" dirty="0"/>
              <a:t>publication.</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4/30/2026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ftr" sz="quarter" idx="5"/>
          </p:nvPr>
        </p:nvSpPr>
        <p:spPr/>
        <p:txBody>
          <a:bodyPr lIns="0" tIns="0" rIns="0" bIns="0"/>
          <a:lstStyle>
            <a:lvl1pPr>
              <a:defRPr sz="1000" b="0" i="0">
                <a:solidFill>
                  <a:srgbClr val="A1AEC1"/>
                </a:solidFill>
                <a:latin typeface="Arial"/>
                <a:cs typeface="Arial"/>
              </a:defRPr>
            </a:lvl1pPr>
          </a:lstStyle>
          <a:p>
            <a:pPr marL="12700">
              <a:lnSpc>
                <a:spcPct val="100000"/>
              </a:lnSpc>
            </a:pPr>
            <a:r>
              <a:rPr spc="65" dirty="0"/>
              <a:t>Illustrative</a:t>
            </a:r>
            <a:r>
              <a:rPr dirty="0"/>
              <a:t> </a:t>
            </a:r>
            <a:r>
              <a:rPr spc="75" dirty="0"/>
              <a:t>layout</a:t>
            </a:r>
            <a:r>
              <a:rPr spc="70" dirty="0"/>
              <a:t> </a:t>
            </a:r>
            <a:r>
              <a:rPr spc="65" dirty="0"/>
              <a:t>for</a:t>
            </a:r>
            <a:r>
              <a:rPr spc="55" dirty="0"/>
              <a:t> </a:t>
            </a:r>
            <a:r>
              <a:rPr spc="20" dirty="0"/>
              <a:t>discussion.</a:t>
            </a:r>
            <a:r>
              <a:rPr spc="110" dirty="0"/>
              <a:t> </a:t>
            </a:r>
            <a:r>
              <a:rPr spc="50" dirty="0"/>
              <a:t>Webpage</a:t>
            </a:r>
            <a:r>
              <a:rPr spc="55" dirty="0"/>
              <a:t> </a:t>
            </a:r>
            <a:r>
              <a:rPr spc="60" dirty="0"/>
              <a:t>copy</a:t>
            </a:r>
            <a:r>
              <a:rPr spc="100" dirty="0"/>
              <a:t> </a:t>
            </a:r>
            <a:r>
              <a:rPr spc="50" dirty="0"/>
              <a:t>should</a:t>
            </a:r>
            <a:r>
              <a:rPr spc="65" dirty="0"/>
              <a:t> be</a:t>
            </a:r>
            <a:r>
              <a:rPr spc="90" dirty="0"/>
              <a:t> </a:t>
            </a:r>
            <a:r>
              <a:rPr spc="65" dirty="0"/>
              <a:t>reviewed</a:t>
            </a:r>
            <a:r>
              <a:rPr spc="35" dirty="0"/>
              <a:t> </a:t>
            </a:r>
            <a:r>
              <a:rPr spc="60" dirty="0"/>
              <a:t>against</a:t>
            </a:r>
            <a:r>
              <a:rPr spc="75" dirty="0"/>
              <a:t> </a:t>
            </a:r>
            <a:r>
              <a:rPr spc="65" dirty="0"/>
              <a:t>final</a:t>
            </a:r>
            <a:r>
              <a:rPr spc="25" dirty="0"/>
              <a:t> </a:t>
            </a:r>
            <a:r>
              <a:rPr spc="55" dirty="0"/>
              <a:t>transaction</a:t>
            </a:r>
            <a:r>
              <a:rPr spc="100" dirty="0"/>
              <a:t> </a:t>
            </a:r>
            <a:r>
              <a:rPr spc="75" dirty="0"/>
              <a:t>status</a:t>
            </a:r>
            <a:r>
              <a:rPr spc="5" dirty="0"/>
              <a:t> </a:t>
            </a:r>
            <a:r>
              <a:rPr spc="100" dirty="0"/>
              <a:t>and</a:t>
            </a:r>
            <a:r>
              <a:rPr spc="40" dirty="0"/>
              <a:t> </a:t>
            </a:r>
            <a:r>
              <a:rPr spc="110" dirty="0"/>
              <a:t>legal/</a:t>
            </a:r>
            <a:r>
              <a:rPr spc="-15" dirty="0"/>
              <a:t> </a:t>
            </a:r>
            <a:r>
              <a:rPr spc="65" dirty="0"/>
              <a:t>compliance</a:t>
            </a:r>
            <a:r>
              <a:rPr spc="75" dirty="0"/>
              <a:t> </a:t>
            </a:r>
            <a:r>
              <a:rPr spc="65" dirty="0"/>
              <a:t>requirements</a:t>
            </a:r>
            <a:r>
              <a:rPr spc="95" dirty="0"/>
              <a:t> </a:t>
            </a:r>
            <a:r>
              <a:rPr spc="75" dirty="0"/>
              <a:t>before</a:t>
            </a:r>
            <a:r>
              <a:rPr spc="-50" dirty="0"/>
              <a:t> </a:t>
            </a:r>
            <a:r>
              <a:rPr spc="55" dirty="0"/>
              <a:t>publication.</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4/30/2026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000" b="0" i="0">
                <a:solidFill>
                  <a:srgbClr val="A1AEC1"/>
                </a:solidFill>
                <a:latin typeface="Arial"/>
                <a:cs typeface="Arial"/>
              </a:defRPr>
            </a:lvl1pPr>
          </a:lstStyle>
          <a:p>
            <a:pPr marL="12700">
              <a:lnSpc>
                <a:spcPct val="100000"/>
              </a:lnSpc>
            </a:pPr>
            <a:r>
              <a:rPr spc="65" dirty="0"/>
              <a:t>Illustrative</a:t>
            </a:r>
            <a:r>
              <a:rPr dirty="0"/>
              <a:t> </a:t>
            </a:r>
            <a:r>
              <a:rPr spc="75" dirty="0"/>
              <a:t>layout</a:t>
            </a:r>
            <a:r>
              <a:rPr spc="70" dirty="0"/>
              <a:t> </a:t>
            </a:r>
            <a:r>
              <a:rPr spc="65" dirty="0"/>
              <a:t>for</a:t>
            </a:r>
            <a:r>
              <a:rPr spc="55" dirty="0"/>
              <a:t> </a:t>
            </a:r>
            <a:r>
              <a:rPr spc="20" dirty="0"/>
              <a:t>discussion.</a:t>
            </a:r>
            <a:r>
              <a:rPr spc="110" dirty="0"/>
              <a:t> </a:t>
            </a:r>
            <a:r>
              <a:rPr spc="50" dirty="0"/>
              <a:t>Webpage</a:t>
            </a:r>
            <a:r>
              <a:rPr spc="55" dirty="0"/>
              <a:t> </a:t>
            </a:r>
            <a:r>
              <a:rPr spc="60" dirty="0"/>
              <a:t>copy</a:t>
            </a:r>
            <a:r>
              <a:rPr spc="100" dirty="0"/>
              <a:t> </a:t>
            </a:r>
            <a:r>
              <a:rPr spc="50" dirty="0"/>
              <a:t>should</a:t>
            </a:r>
            <a:r>
              <a:rPr spc="65" dirty="0"/>
              <a:t> be</a:t>
            </a:r>
            <a:r>
              <a:rPr spc="90" dirty="0"/>
              <a:t> </a:t>
            </a:r>
            <a:r>
              <a:rPr spc="65" dirty="0"/>
              <a:t>reviewed</a:t>
            </a:r>
            <a:r>
              <a:rPr spc="35" dirty="0"/>
              <a:t> </a:t>
            </a:r>
            <a:r>
              <a:rPr spc="60" dirty="0"/>
              <a:t>against</a:t>
            </a:r>
            <a:r>
              <a:rPr spc="75" dirty="0"/>
              <a:t> </a:t>
            </a:r>
            <a:r>
              <a:rPr spc="65" dirty="0"/>
              <a:t>final</a:t>
            </a:r>
            <a:r>
              <a:rPr spc="25" dirty="0"/>
              <a:t> </a:t>
            </a:r>
            <a:r>
              <a:rPr spc="55" dirty="0"/>
              <a:t>transaction</a:t>
            </a:r>
            <a:r>
              <a:rPr spc="100" dirty="0"/>
              <a:t> </a:t>
            </a:r>
            <a:r>
              <a:rPr spc="75" dirty="0"/>
              <a:t>status</a:t>
            </a:r>
            <a:r>
              <a:rPr spc="5" dirty="0"/>
              <a:t> </a:t>
            </a:r>
            <a:r>
              <a:rPr spc="100" dirty="0"/>
              <a:t>and</a:t>
            </a:r>
            <a:r>
              <a:rPr spc="40" dirty="0"/>
              <a:t> </a:t>
            </a:r>
            <a:r>
              <a:rPr spc="110" dirty="0"/>
              <a:t>legal/</a:t>
            </a:r>
            <a:r>
              <a:rPr spc="-15" dirty="0"/>
              <a:t> </a:t>
            </a:r>
            <a:r>
              <a:rPr spc="65" dirty="0"/>
              <a:t>compliance</a:t>
            </a:r>
            <a:r>
              <a:rPr spc="75" dirty="0"/>
              <a:t> </a:t>
            </a:r>
            <a:r>
              <a:rPr spc="65" dirty="0"/>
              <a:t>requirements</a:t>
            </a:r>
            <a:r>
              <a:rPr spc="95" dirty="0"/>
              <a:t> </a:t>
            </a:r>
            <a:r>
              <a:rPr spc="75" dirty="0"/>
              <a:t>before</a:t>
            </a:r>
            <a:r>
              <a:rPr spc="-50" dirty="0"/>
              <a:t> </a:t>
            </a:r>
            <a:r>
              <a:rPr spc="55" dirty="0"/>
              <a:t>publication.</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4/30/2026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11913540" cy="3221465"/>
          </a:xfrm>
          <a:prstGeom prst="rect">
            <a:avLst/>
          </a:prstGeom>
        </p:spPr>
      </p:pic>
      <p:sp>
        <p:nvSpPr>
          <p:cNvPr id="17" name="bg object 17"/>
          <p:cNvSpPr/>
          <p:nvPr/>
        </p:nvSpPr>
        <p:spPr>
          <a:xfrm>
            <a:off x="903213" y="11528562"/>
            <a:ext cx="0" cy="1208405"/>
          </a:xfrm>
          <a:custGeom>
            <a:avLst/>
            <a:gdLst/>
            <a:ahLst/>
            <a:cxnLst/>
            <a:rect l="l" t="t" r="r" b="b"/>
            <a:pathLst>
              <a:path h="1208404">
                <a:moveTo>
                  <a:pt x="0" y="1208033"/>
                </a:moveTo>
                <a:lnTo>
                  <a:pt x="0" y="0"/>
                </a:lnTo>
              </a:path>
            </a:pathLst>
          </a:custGeom>
          <a:ln w="29858">
            <a:solidFill>
              <a:srgbClr val="000000"/>
            </a:solidFill>
          </a:ln>
        </p:spPr>
        <p:txBody>
          <a:bodyPr wrap="square" lIns="0" tIns="0" rIns="0" bIns="0" rtlCol="0"/>
          <a:lstStyle/>
          <a:p>
            <a:endParaRPr/>
          </a:p>
        </p:txBody>
      </p:sp>
      <p:sp>
        <p:nvSpPr>
          <p:cNvPr id="18" name="bg object 18"/>
          <p:cNvSpPr/>
          <p:nvPr/>
        </p:nvSpPr>
        <p:spPr>
          <a:xfrm>
            <a:off x="1119686" y="14630672"/>
            <a:ext cx="0" cy="1447165"/>
          </a:xfrm>
          <a:custGeom>
            <a:avLst/>
            <a:gdLst/>
            <a:ahLst/>
            <a:cxnLst/>
            <a:rect l="l" t="t" r="r" b="b"/>
            <a:pathLst>
              <a:path h="1447165">
                <a:moveTo>
                  <a:pt x="0" y="1446657"/>
                </a:moveTo>
                <a:lnTo>
                  <a:pt x="0" y="0"/>
                </a:lnTo>
              </a:path>
            </a:pathLst>
          </a:custGeom>
          <a:ln w="52252">
            <a:solidFill>
              <a:srgbClr val="000000"/>
            </a:solidFill>
          </a:ln>
        </p:spPr>
        <p:txBody>
          <a:bodyPr wrap="square" lIns="0" tIns="0" rIns="0" bIns="0" rtlCol="0"/>
          <a:lstStyle/>
          <a:p>
            <a:endParaRPr/>
          </a:p>
        </p:txBody>
      </p:sp>
      <p:sp>
        <p:nvSpPr>
          <p:cNvPr id="19" name="bg object 19"/>
          <p:cNvSpPr/>
          <p:nvPr/>
        </p:nvSpPr>
        <p:spPr>
          <a:xfrm>
            <a:off x="6329962" y="14630672"/>
            <a:ext cx="0" cy="1447165"/>
          </a:xfrm>
          <a:custGeom>
            <a:avLst/>
            <a:gdLst/>
            <a:ahLst/>
            <a:cxnLst/>
            <a:rect l="l" t="t" r="r" b="b"/>
            <a:pathLst>
              <a:path h="1447165">
                <a:moveTo>
                  <a:pt x="0" y="1446657"/>
                </a:moveTo>
                <a:lnTo>
                  <a:pt x="0" y="0"/>
                </a:lnTo>
              </a:path>
            </a:pathLst>
          </a:custGeom>
          <a:ln w="52252">
            <a:solidFill>
              <a:srgbClr val="000000"/>
            </a:solidFill>
          </a:ln>
        </p:spPr>
        <p:txBody>
          <a:bodyPr wrap="square" lIns="0" tIns="0" rIns="0" bIns="0" rtlCol="0"/>
          <a:lstStyle/>
          <a:p>
            <a:endParaRPr/>
          </a:p>
        </p:txBody>
      </p:sp>
      <p:sp>
        <p:nvSpPr>
          <p:cNvPr id="2" name="Holder 2"/>
          <p:cNvSpPr>
            <a:spLocks noGrp="1"/>
          </p:cNvSpPr>
          <p:nvPr>
            <p:ph type="title"/>
          </p:nvPr>
        </p:nvSpPr>
        <p:spPr>
          <a:xfrm>
            <a:off x="595947" y="804164"/>
            <a:ext cx="10727055" cy="3216656"/>
          </a:xfrm>
          <a:prstGeom prst="rect">
            <a:avLst/>
          </a:prstGeom>
        </p:spPr>
        <p:txBody>
          <a:bodyPr wrap="square" lIns="0" tIns="0" rIns="0" bIns="0">
            <a:spAutoFit/>
          </a:bodyPr>
          <a:lstStyle>
            <a:lvl1pPr>
              <a:defRPr/>
            </a:lvl1pPr>
          </a:lstStyle>
          <a:p>
            <a:endParaRPr/>
          </a:p>
        </p:txBody>
      </p:sp>
      <p:sp>
        <p:nvSpPr>
          <p:cNvPr id="3" name="Holder 3"/>
          <p:cNvSpPr>
            <a:spLocks noGrp="1"/>
          </p:cNvSpPr>
          <p:nvPr>
            <p:ph type="body" idx="1"/>
          </p:nvPr>
        </p:nvSpPr>
        <p:spPr>
          <a:xfrm>
            <a:off x="595947" y="4623943"/>
            <a:ext cx="10727055" cy="13268707"/>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878712" y="19738015"/>
            <a:ext cx="9959975" cy="167640"/>
          </a:xfrm>
          <a:prstGeom prst="rect">
            <a:avLst/>
          </a:prstGeom>
        </p:spPr>
        <p:txBody>
          <a:bodyPr wrap="square" lIns="0" tIns="0" rIns="0" bIns="0">
            <a:spAutoFit/>
          </a:bodyPr>
          <a:lstStyle>
            <a:lvl1pPr>
              <a:defRPr sz="1000" b="0" i="0">
                <a:solidFill>
                  <a:srgbClr val="A1AEC1"/>
                </a:solidFill>
                <a:latin typeface="Arial"/>
                <a:cs typeface="Arial"/>
              </a:defRPr>
            </a:lvl1pPr>
          </a:lstStyle>
          <a:p>
            <a:pPr marL="12700">
              <a:lnSpc>
                <a:spcPct val="100000"/>
              </a:lnSpc>
            </a:pPr>
            <a:r>
              <a:rPr spc="65" dirty="0"/>
              <a:t>Illustrative</a:t>
            </a:r>
            <a:r>
              <a:rPr dirty="0"/>
              <a:t> </a:t>
            </a:r>
            <a:r>
              <a:rPr spc="75" dirty="0"/>
              <a:t>layout</a:t>
            </a:r>
            <a:r>
              <a:rPr spc="70" dirty="0"/>
              <a:t> </a:t>
            </a:r>
            <a:r>
              <a:rPr spc="65" dirty="0"/>
              <a:t>for</a:t>
            </a:r>
            <a:r>
              <a:rPr spc="55" dirty="0"/>
              <a:t> </a:t>
            </a:r>
            <a:r>
              <a:rPr spc="20" dirty="0"/>
              <a:t>discussion.</a:t>
            </a:r>
            <a:r>
              <a:rPr spc="110" dirty="0"/>
              <a:t> </a:t>
            </a:r>
            <a:r>
              <a:rPr spc="50" dirty="0"/>
              <a:t>Webpage</a:t>
            </a:r>
            <a:r>
              <a:rPr spc="55" dirty="0"/>
              <a:t> </a:t>
            </a:r>
            <a:r>
              <a:rPr spc="60" dirty="0"/>
              <a:t>copy</a:t>
            </a:r>
            <a:r>
              <a:rPr spc="100" dirty="0"/>
              <a:t> </a:t>
            </a:r>
            <a:r>
              <a:rPr spc="50" dirty="0"/>
              <a:t>should</a:t>
            </a:r>
            <a:r>
              <a:rPr spc="65" dirty="0"/>
              <a:t> be</a:t>
            </a:r>
            <a:r>
              <a:rPr spc="90" dirty="0"/>
              <a:t> </a:t>
            </a:r>
            <a:r>
              <a:rPr spc="65" dirty="0"/>
              <a:t>reviewed</a:t>
            </a:r>
            <a:r>
              <a:rPr spc="35" dirty="0"/>
              <a:t> </a:t>
            </a:r>
            <a:r>
              <a:rPr spc="60" dirty="0"/>
              <a:t>against</a:t>
            </a:r>
            <a:r>
              <a:rPr spc="75" dirty="0"/>
              <a:t> </a:t>
            </a:r>
            <a:r>
              <a:rPr spc="65" dirty="0"/>
              <a:t>final</a:t>
            </a:r>
            <a:r>
              <a:rPr spc="25" dirty="0"/>
              <a:t> </a:t>
            </a:r>
            <a:r>
              <a:rPr spc="55" dirty="0"/>
              <a:t>transaction</a:t>
            </a:r>
            <a:r>
              <a:rPr spc="100" dirty="0"/>
              <a:t> </a:t>
            </a:r>
            <a:r>
              <a:rPr spc="75" dirty="0"/>
              <a:t>status</a:t>
            </a:r>
            <a:r>
              <a:rPr spc="5" dirty="0"/>
              <a:t> </a:t>
            </a:r>
            <a:r>
              <a:rPr spc="100" dirty="0"/>
              <a:t>and</a:t>
            </a:r>
            <a:r>
              <a:rPr spc="40" dirty="0"/>
              <a:t> </a:t>
            </a:r>
            <a:r>
              <a:rPr spc="110" dirty="0"/>
              <a:t>legal/</a:t>
            </a:r>
            <a:r>
              <a:rPr spc="-15" dirty="0"/>
              <a:t> </a:t>
            </a:r>
            <a:r>
              <a:rPr spc="65" dirty="0"/>
              <a:t>compliance</a:t>
            </a:r>
            <a:r>
              <a:rPr spc="75" dirty="0"/>
              <a:t> </a:t>
            </a:r>
            <a:r>
              <a:rPr spc="65" dirty="0"/>
              <a:t>requirements</a:t>
            </a:r>
            <a:r>
              <a:rPr spc="95" dirty="0"/>
              <a:t> </a:t>
            </a:r>
            <a:r>
              <a:rPr spc="75" dirty="0"/>
              <a:t>before</a:t>
            </a:r>
            <a:r>
              <a:rPr spc="-50" dirty="0"/>
              <a:t> </a:t>
            </a:r>
            <a:r>
              <a:rPr spc="55" dirty="0"/>
              <a:t>publication.</a:t>
            </a:r>
          </a:p>
        </p:txBody>
      </p:sp>
      <p:sp>
        <p:nvSpPr>
          <p:cNvPr id="5" name="Holder 5"/>
          <p:cNvSpPr>
            <a:spLocks noGrp="1"/>
          </p:cNvSpPr>
          <p:nvPr>
            <p:ph type="dt" sz="half" idx="6"/>
          </p:nvPr>
        </p:nvSpPr>
        <p:spPr>
          <a:xfrm>
            <a:off x="595947" y="18696814"/>
            <a:ext cx="2741358" cy="100520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4/30/2026</a:t>
            </a:fld>
            <a:endParaRPr lang="en-US"/>
          </a:p>
        </p:txBody>
      </p:sp>
      <p:sp>
        <p:nvSpPr>
          <p:cNvPr id="6" name="Holder 6"/>
          <p:cNvSpPr>
            <a:spLocks noGrp="1"/>
          </p:cNvSpPr>
          <p:nvPr>
            <p:ph type="sldNum" sz="quarter" idx="7"/>
          </p:nvPr>
        </p:nvSpPr>
        <p:spPr>
          <a:xfrm>
            <a:off x="8581644" y="18696814"/>
            <a:ext cx="2741358" cy="1005205"/>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5.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 name="Bilde 44">
            <a:extLst>
              <a:ext uri="{FF2B5EF4-FFF2-40B4-BE49-F238E27FC236}">
                <a16:creationId xmlns:a16="http://schemas.microsoft.com/office/drawing/2014/main" id="{78EF1612-15CA-E691-3B9E-5D21C994449D}"/>
              </a:ext>
            </a:extLst>
          </p:cNvPr>
          <p:cNvPicPr>
            <a:picLocks noChangeAspect="1"/>
          </p:cNvPicPr>
          <p:nvPr/>
        </p:nvPicPr>
        <p:blipFill>
          <a:blip r:embed="rId2"/>
          <a:stretch>
            <a:fillRect/>
          </a:stretch>
        </p:blipFill>
        <p:spPr>
          <a:xfrm>
            <a:off x="2147943" y="16236406"/>
            <a:ext cx="7421511" cy="2635067"/>
          </a:xfrm>
          <a:prstGeom prst="rect">
            <a:avLst/>
          </a:prstGeom>
        </p:spPr>
      </p:pic>
      <p:sp>
        <p:nvSpPr>
          <p:cNvPr id="39" name="TekstSylinder 38">
            <a:extLst>
              <a:ext uri="{FF2B5EF4-FFF2-40B4-BE49-F238E27FC236}">
                <a16:creationId xmlns:a16="http://schemas.microsoft.com/office/drawing/2014/main" id="{4A77F191-A1F6-6A60-CB97-24B50BF16A48}"/>
              </a:ext>
            </a:extLst>
          </p:cNvPr>
          <p:cNvSpPr txBox="1"/>
          <p:nvPr/>
        </p:nvSpPr>
        <p:spPr>
          <a:xfrm>
            <a:off x="638627" y="14519527"/>
            <a:ext cx="1219200" cy="1594394"/>
          </a:xfrm>
          <a:prstGeom prst="rect">
            <a:avLst/>
          </a:prstGeom>
          <a:solidFill>
            <a:srgbClr val="FFFFFF"/>
          </a:solidFill>
        </p:spPr>
        <p:txBody>
          <a:bodyPr wrap="square" rtlCol="0">
            <a:spAutoFit/>
          </a:bodyPr>
          <a:lstStyle/>
          <a:p>
            <a:endParaRPr lang="nb-NO" dirty="0"/>
          </a:p>
        </p:txBody>
      </p:sp>
      <p:sp>
        <p:nvSpPr>
          <p:cNvPr id="2" name="object 2"/>
          <p:cNvSpPr txBox="1"/>
          <p:nvPr/>
        </p:nvSpPr>
        <p:spPr>
          <a:xfrm>
            <a:off x="879070" y="3775764"/>
            <a:ext cx="9420630" cy="2352567"/>
          </a:xfrm>
          <a:prstGeom prst="rect">
            <a:avLst/>
          </a:prstGeom>
        </p:spPr>
        <p:txBody>
          <a:bodyPr vert="horz" wrap="square" lIns="0" tIns="83820" rIns="0" bIns="0" rtlCol="0">
            <a:spAutoFit/>
          </a:bodyPr>
          <a:lstStyle/>
          <a:p>
            <a:pPr marL="13335" marR="21590" indent="-635">
              <a:lnSpc>
                <a:spcPts val="2290"/>
              </a:lnSpc>
              <a:spcBef>
                <a:spcPts val="980"/>
              </a:spcBef>
            </a:pPr>
            <a:r>
              <a:rPr lang="en-US" b="1" spc="130" dirty="0">
                <a:solidFill>
                  <a:srgbClr val="263D66"/>
                </a:solidFill>
                <a:latin typeface="+mj-lt"/>
                <a:cs typeface="Arial"/>
              </a:rPr>
              <a:t>TURNING SCIENCE INTO REAL-WORLD IMPACT</a:t>
            </a:r>
          </a:p>
          <a:p>
            <a:pPr marL="17780" marR="5080" indent="-1270" algn="just">
              <a:lnSpc>
                <a:spcPct val="119100"/>
              </a:lnSpc>
              <a:spcBef>
                <a:spcPts val="870"/>
              </a:spcBef>
            </a:pPr>
            <a:r>
              <a:rPr lang="en-US" dirty="0">
                <a:latin typeface="+mj-lt"/>
              </a:rPr>
              <a:t>At Hadean Ventures, impact starts with the science. We invest in companies developing products with the potential to address unmet medical needs — and support them with capital, deep sector expertise, strong networks and active ownership.</a:t>
            </a:r>
          </a:p>
          <a:p>
            <a:pPr marL="17780" marR="5080" indent="-1270" algn="just">
              <a:lnSpc>
                <a:spcPct val="119100"/>
              </a:lnSpc>
              <a:spcBef>
                <a:spcPts val="870"/>
              </a:spcBef>
            </a:pPr>
            <a:endParaRPr lang="en-US" sz="1600" dirty="0">
              <a:latin typeface="+mj-lt"/>
              <a:cs typeface="Arial"/>
            </a:endParaRPr>
          </a:p>
          <a:p>
            <a:pPr marL="17780" marR="5080" indent="-1270">
              <a:lnSpc>
                <a:spcPct val="119100"/>
              </a:lnSpc>
              <a:spcBef>
                <a:spcPts val="870"/>
              </a:spcBef>
            </a:pPr>
            <a:endParaRPr sz="1600" dirty="0">
              <a:latin typeface="+mj-lt"/>
              <a:cs typeface="Arial"/>
            </a:endParaRPr>
          </a:p>
        </p:txBody>
      </p:sp>
      <p:sp>
        <p:nvSpPr>
          <p:cNvPr id="21" name="object 21"/>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spc="65" dirty="0"/>
              <a:t>Illustrative</a:t>
            </a:r>
            <a:r>
              <a:rPr dirty="0"/>
              <a:t> </a:t>
            </a:r>
            <a:r>
              <a:rPr spc="75" dirty="0"/>
              <a:t>layout</a:t>
            </a:r>
            <a:r>
              <a:rPr spc="70" dirty="0"/>
              <a:t> </a:t>
            </a:r>
            <a:r>
              <a:rPr spc="65" dirty="0"/>
              <a:t>for</a:t>
            </a:r>
            <a:r>
              <a:rPr spc="55" dirty="0"/>
              <a:t> </a:t>
            </a:r>
            <a:r>
              <a:rPr spc="20" dirty="0"/>
              <a:t>discussion.</a:t>
            </a:r>
            <a:r>
              <a:rPr spc="110" dirty="0"/>
              <a:t> </a:t>
            </a:r>
            <a:r>
              <a:rPr spc="50" dirty="0"/>
              <a:t>Webpage</a:t>
            </a:r>
            <a:r>
              <a:rPr spc="55" dirty="0"/>
              <a:t> </a:t>
            </a:r>
            <a:r>
              <a:rPr spc="60" dirty="0"/>
              <a:t>copy</a:t>
            </a:r>
            <a:r>
              <a:rPr spc="100" dirty="0"/>
              <a:t> </a:t>
            </a:r>
            <a:r>
              <a:rPr spc="50" dirty="0"/>
              <a:t>should</a:t>
            </a:r>
            <a:r>
              <a:rPr spc="65" dirty="0"/>
              <a:t> be</a:t>
            </a:r>
            <a:r>
              <a:rPr spc="90" dirty="0"/>
              <a:t> </a:t>
            </a:r>
            <a:r>
              <a:rPr spc="65" dirty="0"/>
              <a:t>reviewed</a:t>
            </a:r>
            <a:r>
              <a:rPr spc="35" dirty="0"/>
              <a:t> </a:t>
            </a:r>
            <a:r>
              <a:rPr spc="60" dirty="0"/>
              <a:t>against</a:t>
            </a:r>
            <a:r>
              <a:rPr spc="75" dirty="0"/>
              <a:t> </a:t>
            </a:r>
            <a:r>
              <a:rPr spc="65" dirty="0"/>
              <a:t>final</a:t>
            </a:r>
            <a:r>
              <a:rPr spc="25" dirty="0"/>
              <a:t> </a:t>
            </a:r>
            <a:r>
              <a:rPr spc="55" dirty="0"/>
              <a:t>transaction</a:t>
            </a:r>
            <a:r>
              <a:rPr spc="100" dirty="0"/>
              <a:t> </a:t>
            </a:r>
            <a:r>
              <a:rPr spc="75" dirty="0"/>
              <a:t>status</a:t>
            </a:r>
            <a:r>
              <a:rPr spc="5" dirty="0"/>
              <a:t> </a:t>
            </a:r>
            <a:r>
              <a:rPr spc="100" dirty="0"/>
              <a:t>and</a:t>
            </a:r>
            <a:r>
              <a:rPr spc="40" dirty="0"/>
              <a:t> </a:t>
            </a:r>
            <a:r>
              <a:rPr spc="110" dirty="0"/>
              <a:t>legal/</a:t>
            </a:r>
            <a:r>
              <a:rPr spc="-15" dirty="0"/>
              <a:t> </a:t>
            </a:r>
            <a:r>
              <a:rPr spc="65" dirty="0"/>
              <a:t>compliance</a:t>
            </a:r>
            <a:r>
              <a:rPr spc="75" dirty="0"/>
              <a:t> </a:t>
            </a:r>
            <a:r>
              <a:rPr spc="65" dirty="0"/>
              <a:t>requirements</a:t>
            </a:r>
            <a:r>
              <a:rPr spc="95" dirty="0"/>
              <a:t> </a:t>
            </a:r>
            <a:r>
              <a:rPr spc="75" dirty="0"/>
              <a:t>before</a:t>
            </a:r>
            <a:r>
              <a:rPr spc="-50" dirty="0"/>
              <a:t> </a:t>
            </a:r>
            <a:r>
              <a:rPr spc="55" dirty="0"/>
              <a:t>publication.</a:t>
            </a:r>
          </a:p>
        </p:txBody>
      </p:sp>
      <p:sp>
        <p:nvSpPr>
          <p:cNvPr id="25" name="Ellipse 24">
            <a:extLst>
              <a:ext uri="{FF2B5EF4-FFF2-40B4-BE49-F238E27FC236}">
                <a16:creationId xmlns:a16="http://schemas.microsoft.com/office/drawing/2014/main" id="{FF7E951A-0022-E207-FEBF-98F1740D2E66}"/>
              </a:ext>
            </a:extLst>
          </p:cNvPr>
          <p:cNvSpPr/>
          <p:nvPr/>
        </p:nvSpPr>
        <p:spPr>
          <a:xfrm>
            <a:off x="1012896" y="7258637"/>
            <a:ext cx="360000" cy="360000"/>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2000">
              <a:latin typeface="+mj-lt"/>
            </a:endParaRPr>
          </a:p>
        </p:txBody>
      </p:sp>
      <p:sp>
        <p:nvSpPr>
          <p:cNvPr id="3" name="object 3"/>
          <p:cNvSpPr txBox="1"/>
          <p:nvPr/>
        </p:nvSpPr>
        <p:spPr>
          <a:xfrm>
            <a:off x="878712" y="5419235"/>
            <a:ext cx="9191156" cy="839332"/>
          </a:xfrm>
          <a:prstGeom prst="rect">
            <a:avLst/>
          </a:prstGeom>
        </p:spPr>
        <p:txBody>
          <a:bodyPr vert="horz" wrap="square" lIns="0" tIns="8255" rIns="0" bIns="0" rtlCol="0">
            <a:spAutoFit/>
          </a:bodyPr>
          <a:lstStyle/>
          <a:p>
            <a:r>
              <a:rPr lang="en-US" dirty="0">
                <a:latin typeface="+mj-lt"/>
              </a:rPr>
              <a:t>Our role goes beyond funding. We work closely with management teams to help translate research into clinical and commercial progress, with the aim of supporting better outcomes for patients and society.</a:t>
            </a:r>
          </a:p>
        </p:txBody>
      </p:sp>
      <p:sp>
        <p:nvSpPr>
          <p:cNvPr id="26" name="Ellipse 25">
            <a:extLst>
              <a:ext uri="{FF2B5EF4-FFF2-40B4-BE49-F238E27FC236}">
                <a16:creationId xmlns:a16="http://schemas.microsoft.com/office/drawing/2014/main" id="{2D3C7181-660A-90CD-D411-5937B5DB0618}"/>
              </a:ext>
            </a:extLst>
          </p:cNvPr>
          <p:cNvSpPr/>
          <p:nvPr/>
        </p:nvSpPr>
        <p:spPr>
          <a:xfrm>
            <a:off x="4769017" y="7263143"/>
            <a:ext cx="360000" cy="360000"/>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2000">
              <a:latin typeface="+mj-lt"/>
            </a:endParaRPr>
          </a:p>
        </p:txBody>
      </p:sp>
      <p:sp>
        <p:nvSpPr>
          <p:cNvPr id="4" name="object 4"/>
          <p:cNvSpPr txBox="1"/>
          <p:nvPr/>
        </p:nvSpPr>
        <p:spPr>
          <a:xfrm>
            <a:off x="878712" y="6650205"/>
            <a:ext cx="3575685" cy="289182"/>
          </a:xfrm>
          <a:prstGeom prst="rect">
            <a:avLst/>
          </a:prstGeom>
        </p:spPr>
        <p:txBody>
          <a:bodyPr vert="horz" wrap="square" lIns="0" tIns="12065" rIns="0" bIns="0" rtlCol="0">
            <a:spAutoFit/>
          </a:bodyPr>
          <a:lstStyle/>
          <a:p>
            <a:pPr marL="12700">
              <a:lnSpc>
                <a:spcPct val="100000"/>
              </a:lnSpc>
              <a:spcBef>
                <a:spcPts val="95"/>
              </a:spcBef>
              <a:tabLst>
                <a:tab pos="788035" algn="l"/>
                <a:tab pos="1323975" algn="l"/>
                <a:tab pos="2513965" algn="l"/>
              </a:tabLst>
            </a:pPr>
            <a:r>
              <a:rPr b="1" spc="130" dirty="0">
                <a:solidFill>
                  <a:srgbClr val="263D66"/>
                </a:solidFill>
                <a:latin typeface="+mj-lt"/>
                <a:cs typeface="Arial"/>
              </a:rPr>
              <a:t>HOW</a:t>
            </a:r>
            <a:r>
              <a:rPr lang="nb-NO" b="1" spc="130" dirty="0">
                <a:solidFill>
                  <a:srgbClr val="263D66"/>
                </a:solidFill>
                <a:latin typeface="+mj-lt"/>
                <a:cs typeface="Arial"/>
              </a:rPr>
              <a:t> </a:t>
            </a:r>
            <a:r>
              <a:rPr b="1" spc="130" dirty="0">
                <a:solidFill>
                  <a:srgbClr val="263D66"/>
                </a:solidFill>
                <a:latin typeface="+mj-lt"/>
                <a:cs typeface="Arial"/>
              </a:rPr>
              <a:t>WE</a:t>
            </a:r>
            <a:r>
              <a:rPr lang="nb-NO" b="1" spc="130" dirty="0">
                <a:solidFill>
                  <a:srgbClr val="263D66"/>
                </a:solidFill>
                <a:latin typeface="+mj-lt"/>
                <a:cs typeface="Arial"/>
              </a:rPr>
              <a:t> </a:t>
            </a:r>
            <a:r>
              <a:rPr b="1" spc="220" dirty="0">
                <a:solidFill>
                  <a:srgbClr val="263D66"/>
                </a:solidFill>
                <a:latin typeface="+mj-lt"/>
                <a:cs typeface="Arial"/>
              </a:rPr>
              <a:t>CREATE</a:t>
            </a:r>
            <a:r>
              <a:rPr lang="nb-NO" b="1" spc="220" dirty="0">
                <a:solidFill>
                  <a:srgbClr val="263D66"/>
                </a:solidFill>
                <a:latin typeface="+mj-lt"/>
                <a:cs typeface="Arial"/>
              </a:rPr>
              <a:t> </a:t>
            </a:r>
            <a:r>
              <a:rPr b="1" spc="300" dirty="0">
                <a:solidFill>
                  <a:srgbClr val="263D66"/>
                </a:solidFill>
                <a:latin typeface="+mj-lt"/>
                <a:cs typeface="Arial"/>
              </a:rPr>
              <a:t>IMPACT</a:t>
            </a:r>
            <a:endParaRPr dirty="0">
              <a:latin typeface="+mj-lt"/>
              <a:cs typeface="Arial"/>
            </a:endParaRPr>
          </a:p>
        </p:txBody>
      </p:sp>
      <p:sp>
        <p:nvSpPr>
          <p:cNvPr id="5" name="object 5"/>
          <p:cNvSpPr txBox="1"/>
          <p:nvPr/>
        </p:nvSpPr>
        <p:spPr>
          <a:xfrm>
            <a:off x="1104699" y="7283464"/>
            <a:ext cx="196850" cy="291105"/>
          </a:xfrm>
          <a:prstGeom prst="rect">
            <a:avLst/>
          </a:prstGeom>
        </p:spPr>
        <p:txBody>
          <a:bodyPr vert="horz" wrap="square" lIns="0" tIns="13970" rIns="0" bIns="0" rtlCol="0">
            <a:spAutoFit/>
          </a:bodyPr>
          <a:lstStyle/>
          <a:p>
            <a:pPr marL="12700">
              <a:lnSpc>
                <a:spcPct val="100000"/>
              </a:lnSpc>
              <a:spcBef>
                <a:spcPts val="110"/>
              </a:spcBef>
            </a:pPr>
            <a:r>
              <a:rPr spc="265" dirty="0">
                <a:solidFill>
                  <a:srgbClr val="C65952"/>
                </a:solidFill>
                <a:latin typeface="+mj-lt"/>
                <a:cs typeface="Arial"/>
              </a:rPr>
              <a:t>+</a:t>
            </a:r>
            <a:endParaRPr dirty="0">
              <a:latin typeface="+mj-lt"/>
              <a:cs typeface="Arial"/>
            </a:endParaRPr>
          </a:p>
        </p:txBody>
      </p:sp>
      <p:sp>
        <p:nvSpPr>
          <p:cNvPr id="6" name="object 6"/>
          <p:cNvSpPr txBox="1"/>
          <p:nvPr/>
        </p:nvSpPr>
        <p:spPr>
          <a:xfrm>
            <a:off x="4807707" y="7313048"/>
            <a:ext cx="308610" cy="228268"/>
          </a:xfrm>
          <a:prstGeom prst="rect">
            <a:avLst/>
          </a:prstGeom>
        </p:spPr>
        <p:txBody>
          <a:bodyPr vert="horz" wrap="square" lIns="0" tIns="12700" rIns="0" bIns="0" rtlCol="0">
            <a:spAutoFit/>
          </a:bodyPr>
          <a:lstStyle/>
          <a:p>
            <a:pPr marL="12700">
              <a:lnSpc>
                <a:spcPct val="100000"/>
              </a:lnSpc>
              <a:spcBef>
                <a:spcPts val="100"/>
              </a:spcBef>
            </a:pPr>
            <a:r>
              <a:rPr sz="1400" b="1" spc="35" dirty="0">
                <a:solidFill>
                  <a:srgbClr val="C65952"/>
                </a:solidFill>
                <a:latin typeface="+mj-lt"/>
                <a:cs typeface="Arial"/>
              </a:rPr>
              <a:t>Sci</a:t>
            </a:r>
            <a:endParaRPr sz="1400" dirty="0">
              <a:latin typeface="+mj-lt"/>
              <a:cs typeface="Arial"/>
            </a:endParaRPr>
          </a:p>
        </p:txBody>
      </p:sp>
      <p:sp>
        <p:nvSpPr>
          <p:cNvPr id="27" name="Ellipse 26">
            <a:extLst>
              <a:ext uri="{FF2B5EF4-FFF2-40B4-BE49-F238E27FC236}">
                <a16:creationId xmlns:a16="http://schemas.microsoft.com/office/drawing/2014/main" id="{CD1F9CEF-9C20-BC86-AB17-2FDD050BA1B6}"/>
              </a:ext>
            </a:extLst>
          </p:cNvPr>
          <p:cNvSpPr/>
          <p:nvPr/>
        </p:nvSpPr>
        <p:spPr>
          <a:xfrm>
            <a:off x="8151444" y="7229267"/>
            <a:ext cx="360000" cy="360000"/>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sz="2000">
              <a:latin typeface="+mj-lt"/>
            </a:endParaRPr>
          </a:p>
        </p:txBody>
      </p:sp>
      <p:sp>
        <p:nvSpPr>
          <p:cNvPr id="7" name="object 7"/>
          <p:cNvSpPr txBox="1"/>
          <p:nvPr/>
        </p:nvSpPr>
        <p:spPr>
          <a:xfrm>
            <a:off x="1054684" y="7775188"/>
            <a:ext cx="2004060" cy="2360454"/>
          </a:xfrm>
          <a:prstGeom prst="rect">
            <a:avLst/>
          </a:prstGeom>
        </p:spPr>
        <p:txBody>
          <a:bodyPr vert="horz" wrap="square" lIns="0" tIns="40005" rIns="0" bIns="0" rtlCol="0">
            <a:spAutoFit/>
          </a:bodyPr>
          <a:lstStyle/>
          <a:p>
            <a:pPr marL="18415" marR="405765" indent="-635">
              <a:lnSpc>
                <a:spcPts val="1639"/>
              </a:lnSpc>
              <a:spcBef>
                <a:spcPts val="315"/>
              </a:spcBef>
            </a:pPr>
            <a:r>
              <a:rPr sz="1600" b="1" spc="140" dirty="0">
                <a:solidFill>
                  <a:srgbClr val="182A49"/>
                </a:solidFill>
                <a:latin typeface="+mj-lt"/>
                <a:cs typeface="Arial"/>
              </a:rPr>
              <a:t>Unmet</a:t>
            </a:r>
            <a:r>
              <a:rPr sz="1600" b="1" spc="175" dirty="0">
                <a:solidFill>
                  <a:srgbClr val="182A49"/>
                </a:solidFill>
                <a:latin typeface="+mj-lt"/>
                <a:cs typeface="Arial"/>
              </a:rPr>
              <a:t> </a:t>
            </a:r>
            <a:r>
              <a:rPr sz="1600" b="1" spc="95" dirty="0">
                <a:solidFill>
                  <a:srgbClr val="182A49"/>
                </a:solidFill>
                <a:latin typeface="+mj-lt"/>
                <a:cs typeface="Arial"/>
              </a:rPr>
              <a:t>medical </a:t>
            </a:r>
            <a:r>
              <a:rPr sz="1600" b="1" spc="114" dirty="0">
                <a:solidFill>
                  <a:srgbClr val="182A49"/>
                </a:solidFill>
                <a:latin typeface="+mj-lt"/>
                <a:cs typeface="Arial"/>
              </a:rPr>
              <a:t>needs</a:t>
            </a:r>
            <a:endParaRPr sz="1600" dirty="0">
              <a:latin typeface="+mj-lt"/>
              <a:cs typeface="Arial"/>
            </a:endParaRPr>
          </a:p>
          <a:p>
            <a:pPr marL="12700" marR="5080" indent="635">
              <a:lnSpc>
                <a:spcPct val="110100"/>
              </a:lnSpc>
              <a:spcBef>
                <a:spcPts val="209"/>
              </a:spcBef>
            </a:pPr>
            <a:r>
              <a:rPr lang="en-US" sz="1400" dirty="0">
                <a:solidFill>
                  <a:schemeClr val="accent1">
                    <a:lumMod val="75000"/>
                  </a:schemeClr>
                </a:solidFill>
                <a:latin typeface="+mj-lt"/>
              </a:rPr>
              <a:t>We back companies developing new therapies, diagnostics and technologies for areas of significant unmet medical need, contributing to better health and wellbeing.</a:t>
            </a:r>
            <a:endParaRPr sz="1400" dirty="0">
              <a:solidFill>
                <a:schemeClr val="accent1">
                  <a:lumMod val="75000"/>
                </a:schemeClr>
              </a:solidFill>
              <a:latin typeface="+mj-lt"/>
            </a:endParaRPr>
          </a:p>
        </p:txBody>
      </p:sp>
      <p:sp>
        <p:nvSpPr>
          <p:cNvPr id="8" name="object 8"/>
          <p:cNvSpPr txBox="1"/>
          <p:nvPr/>
        </p:nvSpPr>
        <p:spPr>
          <a:xfrm>
            <a:off x="4754917" y="7763359"/>
            <a:ext cx="1887183" cy="1899302"/>
          </a:xfrm>
          <a:prstGeom prst="rect">
            <a:avLst/>
          </a:prstGeom>
        </p:spPr>
        <p:txBody>
          <a:bodyPr vert="horz" wrap="square" lIns="0" tIns="40005" rIns="0" bIns="0" rtlCol="0">
            <a:spAutoFit/>
          </a:bodyPr>
          <a:lstStyle/>
          <a:p>
            <a:pPr marL="13970" marR="181610" indent="3175">
              <a:lnSpc>
                <a:spcPts val="1639"/>
              </a:lnSpc>
              <a:spcBef>
                <a:spcPts val="315"/>
              </a:spcBef>
            </a:pPr>
            <a:r>
              <a:rPr sz="1600" b="1" spc="75" dirty="0">
                <a:solidFill>
                  <a:srgbClr val="182A49"/>
                </a:solidFill>
                <a:latin typeface="+mj-lt"/>
                <a:cs typeface="Arial"/>
              </a:rPr>
              <a:t>Scientific</a:t>
            </a:r>
            <a:r>
              <a:rPr sz="1600" b="1" spc="270" dirty="0">
                <a:solidFill>
                  <a:srgbClr val="182A49"/>
                </a:solidFill>
                <a:latin typeface="+mj-lt"/>
                <a:cs typeface="Arial"/>
              </a:rPr>
              <a:t> </a:t>
            </a:r>
            <a:r>
              <a:rPr sz="1600" b="1" spc="75" dirty="0">
                <a:solidFill>
                  <a:srgbClr val="182A49"/>
                </a:solidFill>
                <a:latin typeface="+mj-lt"/>
                <a:cs typeface="Arial"/>
              </a:rPr>
              <a:t>and </a:t>
            </a:r>
            <a:r>
              <a:rPr sz="1600" b="1" spc="100" dirty="0">
                <a:solidFill>
                  <a:srgbClr val="182A49"/>
                </a:solidFill>
                <a:latin typeface="+mj-lt"/>
                <a:cs typeface="Arial"/>
              </a:rPr>
              <a:t>technical</a:t>
            </a:r>
            <a:r>
              <a:rPr sz="1600" b="1" spc="215" dirty="0">
                <a:solidFill>
                  <a:srgbClr val="182A49"/>
                </a:solidFill>
                <a:latin typeface="+mj-lt"/>
                <a:cs typeface="Arial"/>
              </a:rPr>
              <a:t> </a:t>
            </a:r>
            <a:r>
              <a:rPr sz="1600" b="1" spc="135" dirty="0">
                <a:solidFill>
                  <a:srgbClr val="182A49"/>
                </a:solidFill>
                <a:latin typeface="+mj-lt"/>
                <a:cs typeface="Arial"/>
              </a:rPr>
              <a:t>depth</a:t>
            </a:r>
            <a:endParaRPr sz="1600" dirty="0">
              <a:latin typeface="+mj-lt"/>
              <a:cs typeface="Arial"/>
            </a:endParaRPr>
          </a:p>
          <a:p>
            <a:pPr marL="13970" marR="5080" indent="-1905">
              <a:lnSpc>
                <a:spcPct val="110100"/>
              </a:lnSpc>
              <a:spcBef>
                <a:spcPts val="265"/>
              </a:spcBef>
            </a:pPr>
            <a:r>
              <a:rPr lang="en-US" sz="1400" dirty="0">
                <a:solidFill>
                  <a:schemeClr val="accent1">
                    <a:lumMod val="75000"/>
                  </a:schemeClr>
                </a:solidFill>
                <a:latin typeface="+mj-lt"/>
              </a:rPr>
              <a:t>We participate in boards and apply specialist expertise and strong networks to support research, development and innovation.</a:t>
            </a:r>
            <a:endParaRPr sz="1400" dirty="0">
              <a:solidFill>
                <a:schemeClr val="accent1">
                  <a:lumMod val="75000"/>
                </a:schemeClr>
              </a:solidFill>
              <a:latin typeface="+mj-lt"/>
              <a:cs typeface="Arial"/>
            </a:endParaRPr>
          </a:p>
        </p:txBody>
      </p:sp>
      <p:sp>
        <p:nvSpPr>
          <p:cNvPr id="10" name="object 10"/>
          <p:cNvSpPr txBox="1"/>
          <p:nvPr/>
        </p:nvSpPr>
        <p:spPr>
          <a:xfrm>
            <a:off x="8151444" y="7293566"/>
            <a:ext cx="402590" cy="228268"/>
          </a:xfrm>
          <a:prstGeom prst="rect">
            <a:avLst/>
          </a:prstGeom>
        </p:spPr>
        <p:txBody>
          <a:bodyPr vert="horz" wrap="square" lIns="0" tIns="12700" rIns="0" bIns="0" rtlCol="0">
            <a:spAutoFit/>
          </a:bodyPr>
          <a:lstStyle/>
          <a:p>
            <a:pPr marL="12700">
              <a:lnSpc>
                <a:spcPct val="100000"/>
              </a:lnSpc>
              <a:spcBef>
                <a:spcPts val="100"/>
              </a:spcBef>
            </a:pPr>
            <a:r>
              <a:rPr sz="1400" b="1" spc="-25" dirty="0">
                <a:solidFill>
                  <a:srgbClr val="C65952"/>
                </a:solidFill>
                <a:latin typeface="+mj-lt"/>
                <a:cs typeface="Arial"/>
              </a:rPr>
              <a:t>ESG</a:t>
            </a:r>
            <a:endParaRPr sz="1400">
              <a:latin typeface="+mj-lt"/>
              <a:cs typeface="Arial"/>
            </a:endParaRPr>
          </a:p>
        </p:txBody>
      </p:sp>
      <p:sp>
        <p:nvSpPr>
          <p:cNvPr id="11" name="object 11"/>
          <p:cNvSpPr txBox="1"/>
          <p:nvPr/>
        </p:nvSpPr>
        <p:spPr>
          <a:xfrm>
            <a:off x="8127609" y="7763359"/>
            <a:ext cx="2095891" cy="2179443"/>
          </a:xfrm>
          <a:prstGeom prst="rect">
            <a:avLst/>
          </a:prstGeom>
        </p:spPr>
        <p:txBody>
          <a:bodyPr vert="horz" wrap="square" lIns="0" tIns="45085" rIns="0" bIns="0" rtlCol="0">
            <a:spAutoFit/>
          </a:bodyPr>
          <a:lstStyle/>
          <a:p>
            <a:pPr marL="12700" marR="551180" indent="6985">
              <a:lnSpc>
                <a:spcPts val="1590"/>
              </a:lnSpc>
              <a:spcBef>
                <a:spcPts val="355"/>
              </a:spcBef>
            </a:pPr>
            <a:r>
              <a:rPr sz="1600" b="1" spc="80" dirty="0">
                <a:solidFill>
                  <a:srgbClr val="182A49"/>
                </a:solidFill>
                <a:latin typeface="+mj-lt"/>
                <a:cs typeface="Arial"/>
              </a:rPr>
              <a:t>Responsible </a:t>
            </a:r>
            <a:r>
              <a:rPr sz="1600" b="1" spc="105" dirty="0">
                <a:solidFill>
                  <a:srgbClr val="182A49"/>
                </a:solidFill>
                <a:latin typeface="+mj-lt"/>
                <a:cs typeface="Arial"/>
              </a:rPr>
              <a:t>investing</a:t>
            </a:r>
            <a:endParaRPr sz="1600" dirty="0">
              <a:latin typeface="+mj-lt"/>
              <a:cs typeface="Arial"/>
            </a:endParaRPr>
          </a:p>
          <a:p>
            <a:r>
              <a:rPr lang="en-US" sz="1400" dirty="0">
                <a:solidFill>
                  <a:schemeClr val="accent1">
                    <a:lumMod val="75000"/>
                  </a:schemeClr>
                </a:solidFill>
                <a:latin typeface="+mj-lt"/>
              </a:rPr>
              <a:t>We integrate ESG throughout our investment process and portfolio support, with a focus on environmental awareness, gender equality and inclusion, and good governance.</a:t>
            </a:r>
          </a:p>
        </p:txBody>
      </p:sp>
      <p:sp>
        <p:nvSpPr>
          <p:cNvPr id="15" name="object 15"/>
          <p:cNvSpPr txBox="1"/>
          <p:nvPr/>
        </p:nvSpPr>
        <p:spPr>
          <a:xfrm>
            <a:off x="896855" y="10688645"/>
            <a:ext cx="10271049" cy="413575"/>
          </a:xfrm>
          <a:prstGeom prst="rect">
            <a:avLst/>
          </a:prstGeom>
        </p:spPr>
        <p:txBody>
          <a:bodyPr vert="horz" wrap="square" lIns="0" tIns="135255" rIns="0" bIns="0" rtlCol="0">
            <a:spAutoFit/>
          </a:bodyPr>
          <a:lstStyle/>
          <a:p>
            <a:pPr marL="27940">
              <a:lnSpc>
                <a:spcPct val="100000"/>
              </a:lnSpc>
              <a:spcBef>
                <a:spcPts val="1065"/>
              </a:spcBef>
              <a:tabLst>
                <a:tab pos="1238250" algn="l"/>
                <a:tab pos="2611120" algn="l"/>
              </a:tabLst>
            </a:pPr>
            <a:r>
              <a:rPr b="1" spc="245" dirty="0">
                <a:solidFill>
                  <a:srgbClr val="263D66"/>
                </a:solidFill>
                <a:latin typeface="+mj-lt"/>
                <a:cs typeface="Arial"/>
              </a:rPr>
              <a:t>RECENT</a:t>
            </a:r>
            <a:r>
              <a:rPr lang="nb-NO" b="1" spc="245" dirty="0">
                <a:solidFill>
                  <a:srgbClr val="263D66"/>
                </a:solidFill>
                <a:latin typeface="+mj-lt"/>
                <a:cs typeface="Arial"/>
              </a:rPr>
              <a:t> </a:t>
            </a:r>
            <a:r>
              <a:rPr b="1" spc="210" dirty="0">
                <a:solidFill>
                  <a:srgbClr val="263D66"/>
                </a:solidFill>
                <a:latin typeface="+mj-lt"/>
                <a:cs typeface="Arial"/>
              </a:rPr>
              <a:t>SUCCESS</a:t>
            </a:r>
            <a:r>
              <a:rPr lang="nb-NO" b="1" spc="210" dirty="0">
                <a:solidFill>
                  <a:srgbClr val="263D66"/>
                </a:solidFill>
                <a:latin typeface="+mj-lt"/>
                <a:cs typeface="Arial"/>
              </a:rPr>
              <a:t> </a:t>
            </a:r>
            <a:r>
              <a:rPr b="1" spc="260" dirty="0">
                <a:solidFill>
                  <a:srgbClr val="263D66"/>
                </a:solidFill>
                <a:latin typeface="+mj-lt"/>
                <a:cs typeface="Arial"/>
              </a:rPr>
              <a:t>STORIES</a:t>
            </a:r>
            <a:r>
              <a:rPr lang="nb-NO" b="1" dirty="0">
                <a:latin typeface="+mj-lt"/>
                <a:cs typeface="Arial"/>
              </a:rPr>
              <a:t>: </a:t>
            </a:r>
            <a:r>
              <a:rPr sz="1600" i="1" spc="175" dirty="0">
                <a:solidFill>
                  <a:srgbClr val="C65952"/>
                </a:solidFill>
                <a:latin typeface="+mj-lt"/>
                <a:cs typeface="Arial"/>
              </a:rPr>
              <a:t>From</a:t>
            </a:r>
            <a:r>
              <a:rPr sz="1600" i="1" spc="155" dirty="0">
                <a:solidFill>
                  <a:srgbClr val="C65952"/>
                </a:solidFill>
                <a:latin typeface="+mj-lt"/>
                <a:cs typeface="Arial"/>
              </a:rPr>
              <a:t> </a:t>
            </a:r>
            <a:r>
              <a:rPr sz="1600" i="1" spc="120" dirty="0">
                <a:solidFill>
                  <a:srgbClr val="C65952"/>
                </a:solidFill>
                <a:latin typeface="+mj-lt"/>
                <a:cs typeface="Arial"/>
              </a:rPr>
              <a:t>breakthrough</a:t>
            </a:r>
            <a:r>
              <a:rPr sz="1600" i="1" spc="190" dirty="0">
                <a:solidFill>
                  <a:srgbClr val="C65952"/>
                </a:solidFill>
                <a:latin typeface="+mj-lt"/>
                <a:cs typeface="Arial"/>
              </a:rPr>
              <a:t> </a:t>
            </a:r>
            <a:r>
              <a:rPr sz="1600" i="1" spc="80" dirty="0">
                <a:solidFill>
                  <a:srgbClr val="C65952"/>
                </a:solidFill>
                <a:latin typeface="+mj-lt"/>
                <a:cs typeface="Arial"/>
              </a:rPr>
              <a:t>science</a:t>
            </a:r>
            <a:r>
              <a:rPr sz="1600" i="1" spc="165" dirty="0">
                <a:solidFill>
                  <a:srgbClr val="C65952"/>
                </a:solidFill>
                <a:latin typeface="+mj-lt"/>
                <a:cs typeface="Arial"/>
              </a:rPr>
              <a:t> </a:t>
            </a:r>
            <a:r>
              <a:rPr sz="1600" i="1" spc="75" dirty="0">
                <a:solidFill>
                  <a:srgbClr val="C65952"/>
                </a:solidFill>
                <a:latin typeface="+mj-lt"/>
                <a:cs typeface="Arial"/>
              </a:rPr>
              <a:t>to</a:t>
            </a:r>
            <a:r>
              <a:rPr sz="1600" i="1" spc="175" dirty="0">
                <a:solidFill>
                  <a:srgbClr val="C65952"/>
                </a:solidFill>
                <a:latin typeface="+mj-lt"/>
                <a:cs typeface="Arial"/>
              </a:rPr>
              <a:t> </a:t>
            </a:r>
            <a:r>
              <a:rPr sz="1600" i="1" spc="120" dirty="0">
                <a:solidFill>
                  <a:srgbClr val="C65952"/>
                </a:solidFill>
                <a:latin typeface="+mj-lt"/>
                <a:cs typeface="Arial"/>
              </a:rPr>
              <a:t>tangible</a:t>
            </a:r>
            <a:r>
              <a:rPr sz="1600" i="1" spc="165" dirty="0">
                <a:solidFill>
                  <a:srgbClr val="C65952"/>
                </a:solidFill>
                <a:latin typeface="+mj-lt"/>
                <a:cs typeface="Arial"/>
              </a:rPr>
              <a:t> </a:t>
            </a:r>
            <a:r>
              <a:rPr sz="1600" i="1" spc="90" dirty="0">
                <a:solidFill>
                  <a:srgbClr val="C65952"/>
                </a:solidFill>
                <a:latin typeface="+mj-lt"/>
                <a:cs typeface="Arial"/>
              </a:rPr>
              <a:t>outcomes.</a:t>
            </a:r>
            <a:endParaRPr sz="1600" dirty="0">
              <a:latin typeface="+mj-lt"/>
              <a:cs typeface="Arial"/>
            </a:endParaRPr>
          </a:p>
        </p:txBody>
      </p:sp>
      <p:pic>
        <p:nvPicPr>
          <p:cNvPr id="23" name="Bilde 22">
            <a:extLst>
              <a:ext uri="{FF2B5EF4-FFF2-40B4-BE49-F238E27FC236}">
                <a16:creationId xmlns:a16="http://schemas.microsoft.com/office/drawing/2014/main" id="{19D913AE-872F-F39E-8273-889D5FDDAD59}"/>
              </a:ext>
            </a:extLst>
          </p:cNvPr>
          <p:cNvPicPr>
            <a:picLocks noChangeAspect="1"/>
          </p:cNvPicPr>
          <p:nvPr/>
        </p:nvPicPr>
        <p:blipFill>
          <a:blip r:embed="rId3"/>
          <a:srcRect l="10200" r="4806"/>
          <a:stretch>
            <a:fillRect/>
          </a:stretch>
        </p:blipFill>
        <p:spPr>
          <a:xfrm>
            <a:off x="0" y="-33474"/>
            <a:ext cx="11912600" cy="3320173"/>
          </a:xfrm>
          <a:prstGeom prst="rect">
            <a:avLst/>
          </a:prstGeom>
        </p:spPr>
      </p:pic>
      <p:sp>
        <p:nvSpPr>
          <p:cNvPr id="33" name="TekstSylinder 32">
            <a:extLst>
              <a:ext uri="{FF2B5EF4-FFF2-40B4-BE49-F238E27FC236}">
                <a16:creationId xmlns:a16="http://schemas.microsoft.com/office/drawing/2014/main" id="{9C1470FC-D05C-C5EF-45A9-E00307F9FA05}"/>
              </a:ext>
            </a:extLst>
          </p:cNvPr>
          <p:cNvSpPr txBox="1"/>
          <p:nvPr/>
        </p:nvSpPr>
        <p:spPr>
          <a:xfrm>
            <a:off x="698500" y="11347450"/>
            <a:ext cx="1219200" cy="400110"/>
          </a:xfrm>
          <a:prstGeom prst="rect">
            <a:avLst/>
          </a:prstGeom>
          <a:solidFill>
            <a:srgbClr val="FFFFFF"/>
          </a:solidFill>
        </p:spPr>
        <p:txBody>
          <a:bodyPr wrap="square" rtlCol="0">
            <a:spAutoFit/>
          </a:bodyPr>
          <a:lstStyle/>
          <a:p>
            <a:endParaRPr lang="nb-NO" sz="2000" dirty="0">
              <a:latin typeface="+mj-lt"/>
            </a:endParaRPr>
          </a:p>
        </p:txBody>
      </p:sp>
      <p:pic>
        <p:nvPicPr>
          <p:cNvPr id="35" name="Bilde 34">
            <a:extLst>
              <a:ext uri="{FF2B5EF4-FFF2-40B4-BE49-F238E27FC236}">
                <a16:creationId xmlns:a16="http://schemas.microsoft.com/office/drawing/2014/main" id="{AC3862E2-F35C-E850-598A-A66AAA021BC5}"/>
              </a:ext>
            </a:extLst>
          </p:cNvPr>
          <p:cNvPicPr>
            <a:picLocks noChangeAspect="1"/>
          </p:cNvPicPr>
          <p:nvPr/>
        </p:nvPicPr>
        <p:blipFill>
          <a:blip r:embed="rId4"/>
          <a:stretch>
            <a:fillRect/>
          </a:stretch>
        </p:blipFill>
        <p:spPr>
          <a:xfrm>
            <a:off x="780804" y="11228581"/>
            <a:ext cx="323895" cy="1686160"/>
          </a:xfrm>
          <a:prstGeom prst="rect">
            <a:avLst/>
          </a:prstGeom>
        </p:spPr>
      </p:pic>
      <p:pic>
        <p:nvPicPr>
          <p:cNvPr id="37" name="Bilde 36">
            <a:extLst>
              <a:ext uri="{FF2B5EF4-FFF2-40B4-BE49-F238E27FC236}">
                <a16:creationId xmlns:a16="http://schemas.microsoft.com/office/drawing/2014/main" id="{D5549B89-43B1-8F16-1D0A-CEE943B10E25}"/>
              </a:ext>
            </a:extLst>
          </p:cNvPr>
          <p:cNvPicPr>
            <a:picLocks noChangeAspect="1"/>
          </p:cNvPicPr>
          <p:nvPr/>
        </p:nvPicPr>
        <p:blipFill>
          <a:blip r:embed="rId4"/>
          <a:stretch>
            <a:fillRect/>
          </a:stretch>
        </p:blipFill>
        <p:spPr>
          <a:xfrm>
            <a:off x="5956300" y="11198752"/>
            <a:ext cx="323895" cy="1686160"/>
          </a:xfrm>
          <a:prstGeom prst="rect">
            <a:avLst/>
          </a:prstGeom>
        </p:spPr>
      </p:pic>
      <p:sp>
        <p:nvSpPr>
          <p:cNvPr id="16" name="object 16"/>
          <p:cNvSpPr txBox="1"/>
          <p:nvPr/>
        </p:nvSpPr>
        <p:spPr>
          <a:xfrm>
            <a:off x="1244876" y="11365139"/>
            <a:ext cx="2293620" cy="186590"/>
          </a:xfrm>
          <a:prstGeom prst="rect">
            <a:avLst/>
          </a:prstGeom>
        </p:spPr>
        <p:txBody>
          <a:bodyPr vert="horz" wrap="square" lIns="0" tIns="17145" rIns="0" bIns="0" rtlCol="0">
            <a:spAutoFit/>
          </a:bodyPr>
          <a:lstStyle/>
          <a:p>
            <a:pPr marL="12700">
              <a:lnSpc>
                <a:spcPct val="100000"/>
              </a:lnSpc>
              <a:spcBef>
                <a:spcPts val="135"/>
              </a:spcBef>
            </a:pPr>
            <a:r>
              <a:rPr sz="1100" b="1" dirty="0">
                <a:solidFill>
                  <a:srgbClr val="C65952"/>
                </a:solidFill>
                <a:latin typeface="+mj-lt"/>
                <a:cs typeface="Arial"/>
              </a:rPr>
              <a:t>RARE</a:t>
            </a:r>
            <a:r>
              <a:rPr sz="1100" b="1" spc="114" dirty="0">
                <a:solidFill>
                  <a:srgbClr val="C65952"/>
                </a:solidFill>
                <a:latin typeface="+mj-lt"/>
                <a:cs typeface="Arial"/>
              </a:rPr>
              <a:t> </a:t>
            </a:r>
            <a:r>
              <a:rPr sz="1100" b="1" spc="55" dirty="0">
                <a:solidFill>
                  <a:srgbClr val="C65952"/>
                </a:solidFill>
                <a:latin typeface="+mj-lt"/>
                <a:cs typeface="Arial"/>
              </a:rPr>
              <a:t>DISEASE</a:t>
            </a:r>
            <a:r>
              <a:rPr sz="1100" b="1" spc="220" dirty="0">
                <a:solidFill>
                  <a:srgbClr val="C65952"/>
                </a:solidFill>
                <a:latin typeface="+mj-lt"/>
                <a:cs typeface="Arial"/>
              </a:rPr>
              <a:t> </a:t>
            </a:r>
            <a:r>
              <a:rPr sz="1100" b="1" spc="-10" dirty="0">
                <a:solidFill>
                  <a:srgbClr val="C65952"/>
                </a:solidFill>
                <a:latin typeface="+mj-lt"/>
                <a:cs typeface="Arial"/>
              </a:rPr>
              <a:t>THERAPEUTICS</a:t>
            </a:r>
            <a:endParaRPr sz="1100" dirty="0">
              <a:latin typeface="+mj-lt"/>
              <a:cs typeface="Arial"/>
            </a:endParaRPr>
          </a:p>
        </p:txBody>
      </p:sp>
      <p:sp>
        <p:nvSpPr>
          <p:cNvPr id="17" name="object 17"/>
          <p:cNvSpPr txBox="1"/>
          <p:nvPr/>
        </p:nvSpPr>
        <p:spPr>
          <a:xfrm>
            <a:off x="1236169" y="11370812"/>
            <a:ext cx="4099560" cy="4197175"/>
          </a:xfrm>
          <a:prstGeom prst="rect">
            <a:avLst/>
          </a:prstGeom>
        </p:spPr>
        <p:txBody>
          <a:bodyPr vert="horz" wrap="square" lIns="0" tIns="288290" rIns="0" bIns="0" rtlCol="0">
            <a:spAutoFit/>
          </a:bodyPr>
          <a:lstStyle/>
          <a:p>
            <a:pPr marL="12700">
              <a:lnSpc>
                <a:spcPct val="100000"/>
              </a:lnSpc>
              <a:spcBef>
                <a:spcPts val="2270"/>
              </a:spcBef>
            </a:pPr>
            <a:r>
              <a:rPr sz="4000" spc="85" dirty="0">
                <a:solidFill>
                  <a:srgbClr val="182A49"/>
                </a:solidFill>
                <a:latin typeface="+mj-lt"/>
                <a:cs typeface="Times New Roman"/>
              </a:rPr>
              <a:t>Abliva</a:t>
            </a:r>
            <a:endParaRPr sz="4000" dirty="0">
              <a:latin typeface="+mj-lt"/>
              <a:cs typeface="Times New Roman"/>
            </a:endParaRPr>
          </a:p>
          <a:p>
            <a:pPr marL="20955" marR="45085" indent="2540">
              <a:lnSpc>
                <a:spcPct val="112400"/>
              </a:lnSpc>
              <a:spcBef>
                <a:spcPts val="570"/>
              </a:spcBef>
            </a:pPr>
            <a:r>
              <a:rPr sz="1400" dirty="0">
                <a:solidFill>
                  <a:srgbClr val="6B7C97"/>
                </a:solidFill>
                <a:latin typeface="+mj-lt"/>
                <a:cs typeface="Arial"/>
              </a:rPr>
              <a:t>Abliva</a:t>
            </a:r>
            <a:r>
              <a:rPr sz="1400" spc="120" dirty="0">
                <a:solidFill>
                  <a:srgbClr val="6B7C97"/>
                </a:solidFill>
                <a:latin typeface="+mj-lt"/>
                <a:cs typeface="Arial"/>
              </a:rPr>
              <a:t> </a:t>
            </a:r>
            <a:r>
              <a:rPr sz="1400" dirty="0">
                <a:solidFill>
                  <a:srgbClr val="6B7C97"/>
                </a:solidFill>
                <a:latin typeface="+mj-lt"/>
                <a:cs typeface="Arial"/>
              </a:rPr>
              <a:t>is</a:t>
            </a:r>
            <a:r>
              <a:rPr sz="1400" spc="85" dirty="0">
                <a:solidFill>
                  <a:srgbClr val="6B7C97"/>
                </a:solidFill>
                <a:latin typeface="+mj-lt"/>
                <a:cs typeface="Arial"/>
              </a:rPr>
              <a:t> </a:t>
            </a:r>
            <a:r>
              <a:rPr sz="1400" spc="50" dirty="0">
                <a:solidFill>
                  <a:srgbClr val="6B7C97"/>
                </a:solidFill>
                <a:latin typeface="+mj-lt"/>
                <a:cs typeface="Arial"/>
              </a:rPr>
              <a:t>a</a:t>
            </a:r>
            <a:r>
              <a:rPr sz="1400" spc="55" dirty="0">
                <a:solidFill>
                  <a:srgbClr val="6B7C97"/>
                </a:solidFill>
                <a:latin typeface="+mj-lt"/>
                <a:cs typeface="Arial"/>
              </a:rPr>
              <a:t> strong</a:t>
            </a:r>
            <a:r>
              <a:rPr sz="1400" spc="130" dirty="0">
                <a:solidFill>
                  <a:srgbClr val="6B7C97"/>
                </a:solidFill>
                <a:latin typeface="+mj-lt"/>
                <a:cs typeface="Arial"/>
              </a:rPr>
              <a:t> </a:t>
            </a:r>
            <a:r>
              <a:rPr sz="1400" spc="45" dirty="0">
                <a:solidFill>
                  <a:srgbClr val="6B7C97"/>
                </a:solidFill>
                <a:latin typeface="+mj-lt"/>
                <a:cs typeface="Arial"/>
              </a:rPr>
              <a:t>example</a:t>
            </a:r>
            <a:r>
              <a:rPr sz="1400" spc="229" dirty="0">
                <a:solidFill>
                  <a:srgbClr val="6B7C97"/>
                </a:solidFill>
                <a:latin typeface="+mj-lt"/>
                <a:cs typeface="Arial"/>
              </a:rPr>
              <a:t> </a:t>
            </a:r>
            <a:r>
              <a:rPr sz="1400" dirty="0">
                <a:solidFill>
                  <a:srgbClr val="6B7C97"/>
                </a:solidFill>
                <a:latin typeface="+mj-lt"/>
                <a:cs typeface="Arial"/>
              </a:rPr>
              <a:t>of</a:t>
            </a:r>
            <a:r>
              <a:rPr sz="1400" spc="75" dirty="0">
                <a:solidFill>
                  <a:srgbClr val="6B7C97"/>
                </a:solidFill>
                <a:latin typeface="+mj-lt"/>
                <a:cs typeface="Arial"/>
              </a:rPr>
              <a:t> </a:t>
            </a:r>
            <a:r>
              <a:rPr sz="1400" spc="50" dirty="0">
                <a:solidFill>
                  <a:srgbClr val="6B7C97"/>
                </a:solidFill>
                <a:latin typeface="+mj-lt"/>
                <a:cs typeface="Arial"/>
              </a:rPr>
              <a:t>how</a:t>
            </a:r>
            <a:r>
              <a:rPr sz="1400" spc="70" dirty="0">
                <a:solidFill>
                  <a:srgbClr val="6B7C97"/>
                </a:solidFill>
                <a:latin typeface="+mj-lt"/>
                <a:cs typeface="Arial"/>
              </a:rPr>
              <a:t> </a:t>
            </a:r>
            <a:r>
              <a:rPr sz="1400" spc="-10" dirty="0">
                <a:solidFill>
                  <a:srgbClr val="6B7C97"/>
                </a:solidFill>
                <a:latin typeface="+mj-lt"/>
                <a:cs typeface="Arial"/>
              </a:rPr>
              <a:t>specialist </a:t>
            </a:r>
            <a:r>
              <a:rPr sz="1400" spc="65" dirty="0">
                <a:solidFill>
                  <a:srgbClr val="6B7C97"/>
                </a:solidFill>
                <a:latin typeface="+mj-lt"/>
                <a:cs typeface="Arial"/>
              </a:rPr>
              <a:t>venture</a:t>
            </a:r>
            <a:r>
              <a:rPr sz="1400" spc="130" dirty="0">
                <a:solidFill>
                  <a:srgbClr val="6B7C97"/>
                </a:solidFill>
                <a:latin typeface="+mj-lt"/>
                <a:cs typeface="Arial"/>
              </a:rPr>
              <a:t> </a:t>
            </a:r>
            <a:r>
              <a:rPr sz="1400" spc="55" dirty="0">
                <a:solidFill>
                  <a:srgbClr val="6B7C97"/>
                </a:solidFill>
                <a:latin typeface="+mj-lt"/>
                <a:cs typeface="Arial"/>
              </a:rPr>
              <a:t>capital</a:t>
            </a:r>
            <a:r>
              <a:rPr sz="1400" spc="130" dirty="0">
                <a:solidFill>
                  <a:srgbClr val="6B7C97"/>
                </a:solidFill>
                <a:latin typeface="+mj-lt"/>
                <a:cs typeface="Arial"/>
              </a:rPr>
              <a:t> </a:t>
            </a:r>
            <a:r>
              <a:rPr sz="1400" spc="50" dirty="0">
                <a:solidFill>
                  <a:srgbClr val="6B7C97"/>
                </a:solidFill>
                <a:latin typeface="+mj-lt"/>
                <a:cs typeface="Arial"/>
              </a:rPr>
              <a:t>can</a:t>
            </a:r>
            <a:r>
              <a:rPr sz="1400" spc="70" dirty="0">
                <a:solidFill>
                  <a:srgbClr val="6B7C97"/>
                </a:solidFill>
                <a:latin typeface="+mj-lt"/>
                <a:cs typeface="Arial"/>
              </a:rPr>
              <a:t> </a:t>
            </a:r>
            <a:r>
              <a:rPr sz="1400" spc="60" dirty="0">
                <a:solidFill>
                  <a:srgbClr val="6B7C97"/>
                </a:solidFill>
                <a:latin typeface="+mj-lt"/>
                <a:cs typeface="Arial"/>
              </a:rPr>
              <a:t>help</a:t>
            </a:r>
            <a:r>
              <a:rPr sz="1400" spc="105" dirty="0">
                <a:solidFill>
                  <a:srgbClr val="6B7C97"/>
                </a:solidFill>
                <a:latin typeface="+mj-lt"/>
                <a:cs typeface="Arial"/>
              </a:rPr>
              <a:t> </a:t>
            </a:r>
            <a:r>
              <a:rPr sz="1400" dirty="0">
                <a:solidFill>
                  <a:srgbClr val="6B7C97"/>
                </a:solidFill>
                <a:latin typeface="+mj-lt"/>
                <a:cs typeface="Arial"/>
              </a:rPr>
              <a:t>advance</a:t>
            </a:r>
            <a:r>
              <a:rPr sz="1400" spc="185" dirty="0">
                <a:solidFill>
                  <a:srgbClr val="6B7C97"/>
                </a:solidFill>
                <a:latin typeface="+mj-lt"/>
                <a:cs typeface="Arial"/>
              </a:rPr>
              <a:t> </a:t>
            </a:r>
            <a:r>
              <a:rPr sz="1400" dirty="0">
                <a:solidFill>
                  <a:srgbClr val="6B7C97"/>
                </a:solidFill>
                <a:latin typeface="+mj-lt"/>
                <a:cs typeface="Arial"/>
              </a:rPr>
              <a:t>Nordic</a:t>
            </a:r>
            <a:r>
              <a:rPr sz="1400" spc="135" dirty="0">
                <a:solidFill>
                  <a:srgbClr val="6B7C97"/>
                </a:solidFill>
                <a:latin typeface="+mj-lt"/>
                <a:cs typeface="Arial"/>
              </a:rPr>
              <a:t> </a:t>
            </a:r>
            <a:r>
              <a:rPr sz="1400" spc="-10" dirty="0">
                <a:solidFill>
                  <a:srgbClr val="6B7C97"/>
                </a:solidFill>
                <a:latin typeface="+mj-lt"/>
                <a:cs typeface="Arial"/>
              </a:rPr>
              <a:t>science </a:t>
            </a:r>
            <a:r>
              <a:rPr sz="1400" spc="60" dirty="0">
                <a:solidFill>
                  <a:srgbClr val="6B7C97"/>
                </a:solidFill>
                <a:latin typeface="+mj-lt"/>
                <a:cs typeface="Arial"/>
              </a:rPr>
              <a:t>toward</a:t>
            </a:r>
            <a:r>
              <a:rPr sz="1400" spc="245" dirty="0">
                <a:solidFill>
                  <a:srgbClr val="6B7C97"/>
                </a:solidFill>
                <a:latin typeface="+mj-lt"/>
                <a:cs typeface="Arial"/>
              </a:rPr>
              <a:t> </a:t>
            </a:r>
            <a:r>
              <a:rPr sz="1400" dirty="0">
                <a:solidFill>
                  <a:srgbClr val="6B7C97"/>
                </a:solidFill>
                <a:latin typeface="+mj-lt"/>
                <a:cs typeface="Arial"/>
              </a:rPr>
              <a:t>global</a:t>
            </a:r>
            <a:r>
              <a:rPr sz="1400" spc="185" dirty="0">
                <a:solidFill>
                  <a:srgbClr val="6B7C97"/>
                </a:solidFill>
                <a:latin typeface="+mj-lt"/>
                <a:cs typeface="Arial"/>
              </a:rPr>
              <a:t> </a:t>
            </a:r>
            <a:r>
              <a:rPr sz="1400" spc="75" dirty="0">
                <a:solidFill>
                  <a:srgbClr val="6B7C97"/>
                </a:solidFill>
                <a:latin typeface="+mj-lt"/>
                <a:cs typeface="Arial"/>
              </a:rPr>
              <a:t>impact.</a:t>
            </a:r>
            <a:r>
              <a:rPr sz="1400" spc="110" dirty="0">
                <a:solidFill>
                  <a:srgbClr val="6B7C97"/>
                </a:solidFill>
                <a:latin typeface="+mj-lt"/>
                <a:cs typeface="Arial"/>
              </a:rPr>
              <a:t> </a:t>
            </a:r>
            <a:r>
              <a:rPr sz="1400" dirty="0">
                <a:solidFill>
                  <a:srgbClr val="6B7C97"/>
                </a:solidFill>
                <a:latin typeface="+mj-lt"/>
                <a:cs typeface="Arial"/>
              </a:rPr>
              <a:t>Hadean</a:t>
            </a:r>
            <a:r>
              <a:rPr sz="1400" spc="190" dirty="0">
                <a:solidFill>
                  <a:srgbClr val="6B7C97"/>
                </a:solidFill>
                <a:latin typeface="+mj-lt"/>
                <a:cs typeface="Arial"/>
              </a:rPr>
              <a:t> </a:t>
            </a:r>
            <a:r>
              <a:rPr sz="1400" dirty="0">
                <a:solidFill>
                  <a:srgbClr val="6B7C97"/>
                </a:solidFill>
                <a:latin typeface="+mj-lt"/>
                <a:cs typeface="Arial"/>
              </a:rPr>
              <a:t>backed</a:t>
            </a:r>
            <a:r>
              <a:rPr sz="1400" spc="235" dirty="0">
                <a:solidFill>
                  <a:srgbClr val="6B7C97"/>
                </a:solidFill>
                <a:latin typeface="+mj-lt"/>
                <a:cs typeface="Arial"/>
              </a:rPr>
              <a:t> </a:t>
            </a:r>
            <a:r>
              <a:rPr sz="1400" spc="-25" dirty="0">
                <a:solidFill>
                  <a:srgbClr val="6B7C97"/>
                </a:solidFill>
                <a:latin typeface="+mj-lt"/>
                <a:cs typeface="Arial"/>
              </a:rPr>
              <a:t>the </a:t>
            </a:r>
            <a:r>
              <a:rPr sz="1400" dirty="0">
                <a:solidFill>
                  <a:srgbClr val="6B7C97"/>
                </a:solidFill>
                <a:latin typeface="+mj-lt"/>
                <a:cs typeface="Arial"/>
              </a:rPr>
              <a:t>company</a:t>
            </a:r>
            <a:r>
              <a:rPr sz="1400" spc="254" dirty="0">
                <a:solidFill>
                  <a:srgbClr val="6B7C97"/>
                </a:solidFill>
                <a:latin typeface="+mj-lt"/>
                <a:cs typeface="Arial"/>
              </a:rPr>
              <a:t> </a:t>
            </a:r>
            <a:r>
              <a:rPr sz="1400" spc="85" dirty="0">
                <a:solidFill>
                  <a:srgbClr val="6B7C97"/>
                </a:solidFill>
                <a:latin typeface="+mj-lt"/>
                <a:cs typeface="Arial"/>
              </a:rPr>
              <a:t>from</a:t>
            </a:r>
            <a:r>
              <a:rPr sz="1400" spc="175" dirty="0">
                <a:solidFill>
                  <a:srgbClr val="6B7C97"/>
                </a:solidFill>
                <a:latin typeface="+mj-lt"/>
                <a:cs typeface="Arial"/>
              </a:rPr>
              <a:t> </a:t>
            </a:r>
            <a:r>
              <a:rPr sz="1400" spc="60" dirty="0">
                <a:solidFill>
                  <a:srgbClr val="6B7C97"/>
                </a:solidFill>
                <a:latin typeface="+mj-lt"/>
                <a:cs typeface="Arial"/>
              </a:rPr>
              <a:t>2020</a:t>
            </a:r>
            <a:r>
              <a:rPr sz="1400" spc="135" dirty="0">
                <a:solidFill>
                  <a:srgbClr val="6B7C97"/>
                </a:solidFill>
                <a:latin typeface="+mj-lt"/>
                <a:cs typeface="Arial"/>
              </a:rPr>
              <a:t> </a:t>
            </a:r>
            <a:r>
              <a:rPr sz="1400" dirty="0">
                <a:solidFill>
                  <a:srgbClr val="6B7C97"/>
                </a:solidFill>
                <a:latin typeface="+mj-lt"/>
                <a:cs typeface="Arial"/>
              </a:rPr>
              <a:t>and</a:t>
            </a:r>
            <a:r>
              <a:rPr sz="1400" spc="65" dirty="0">
                <a:solidFill>
                  <a:srgbClr val="6B7C97"/>
                </a:solidFill>
                <a:latin typeface="+mj-lt"/>
                <a:cs typeface="Arial"/>
              </a:rPr>
              <a:t> </a:t>
            </a:r>
            <a:r>
              <a:rPr sz="1400" spc="55" dirty="0">
                <a:solidFill>
                  <a:srgbClr val="6B7C97"/>
                </a:solidFill>
                <a:latin typeface="+mj-lt"/>
                <a:cs typeface="Arial"/>
              </a:rPr>
              <a:t>supported</a:t>
            </a:r>
            <a:r>
              <a:rPr sz="1400" spc="180" dirty="0">
                <a:solidFill>
                  <a:srgbClr val="6B7C97"/>
                </a:solidFill>
                <a:latin typeface="+mj-lt"/>
                <a:cs typeface="Arial"/>
              </a:rPr>
              <a:t> </a:t>
            </a:r>
            <a:r>
              <a:rPr sz="1400" spc="-25" dirty="0">
                <a:solidFill>
                  <a:srgbClr val="6B7C97"/>
                </a:solidFill>
                <a:latin typeface="+mj-lt"/>
                <a:cs typeface="Arial"/>
              </a:rPr>
              <a:t>its </a:t>
            </a:r>
            <a:r>
              <a:rPr sz="1400" spc="50" dirty="0">
                <a:solidFill>
                  <a:srgbClr val="6B7C97"/>
                </a:solidFill>
                <a:latin typeface="+mj-lt"/>
                <a:cs typeface="Arial"/>
              </a:rPr>
              <a:t>development</a:t>
            </a:r>
            <a:r>
              <a:rPr sz="1400" spc="195" dirty="0">
                <a:solidFill>
                  <a:srgbClr val="6B7C97"/>
                </a:solidFill>
                <a:latin typeface="+mj-lt"/>
                <a:cs typeface="Arial"/>
              </a:rPr>
              <a:t> </a:t>
            </a:r>
            <a:r>
              <a:rPr sz="1400" spc="65" dirty="0">
                <a:solidFill>
                  <a:srgbClr val="6B7C97"/>
                </a:solidFill>
                <a:latin typeface="+mj-lt"/>
                <a:cs typeface="Arial"/>
              </a:rPr>
              <a:t>through</a:t>
            </a:r>
            <a:r>
              <a:rPr sz="1400" spc="105" dirty="0">
                <a:solidFill>
                  <a:srgbClr val="6B7C97"/>
                </a:solidFill>
                <a:latin typeface="+mj-lt"/>
                <a:cs typeface="Arial"/>
              </a:rPr>
              <a:t> </a:t>
            </a:r>
            <a:r>
              <a:rPr sz="1400" spc="50" dirty="0">
                <a:solidFill>
                  <a:srgbClr val="6B7C97"/>
                </a:solidFill>
                <a:latin typeface="+mj-lt"/>
                <a:cs typeface="Arial"/>
              </a:rPr>
              <a:t>active</a:t>
            </a:r>
            <a:r>
              <a:rPr sz="1400" spc="5" dirty="0">
                <a:solidFill>
                  <a:srgbClr val="6B7C97"/>
                </a:solidFill>
                <a:latin typeface="+mj-lt"/>
                <a:cs typeface="Arial"/>
              </a:rPr>
              <a:t> </a:t>
            </a:r>
            <a:r>
              <a:rPr sz="1400" spc="55" dirty="0">
                <a:solidFill>
                  <a:srgbClr val="6B7C97"/>
                </a:solidFill>
                <a:latin typeface="+mj-lt"/>
                <a:cs typeface="Arial"/>
              </a:rPr>
              <a:t>board</a:t>
            </a:r>
            <a:r>
              <a:rPr sz="1400" spc="70" dirty="0">
                <a:solidFill>
                  <a:srgbClr val="6B7C97"/>
                </a:solidFill>
                <a:latin typeface="+mj-lt"/>
                <a:cs typeface="Arial"/>
              </a:rPr>
              <a:t> </a:t>
            </a:r>
            <a:r>
              <a:rPr sz="1400" spc="60" dirty="0">
                <a:solidFill>
                  <a:srgbClr val="6B7C97"/>
                </a:solidFill>
                <a:latin typeface="+mj-lt"/>
                <a:cs typeface="Arial"/>
              </a:rPr>
              <a:t>work,</a:t>
            </a:r>
            <a:r>
              <a:rPr sz="1400" dirty="0">
                <a:solidFill>
                  <a:srgbClr val="6B7C97"/>
                </a:solidFill>
                <a:latin typeface="+mj-lt"/>
                <a:cs typeface="Arial"/>
              </a:rPr>
              <a:t> </a:t>
            </a:r>
            <a:r>
              <a:rPr sz="1400" spc="50" dirty="0">
                <a:solidFill>
                  <a:srgbClr val="6B7C97"/>
                </a:solidFill>
                <a:latin typeface="+mj-lt"/>
                <a:cs typeface="Arial"/>
              </a:rPr>
              <a:t>helping drive</a:t>
            </a:r>
            <a:r>
              <a:rPr sz="1400" spc="130" dirty="0">
                <a:solidFill>
                  <a:srgbClr val="6B7C97"/>
                </a:solidFill>
                <a:latin typeface="+mj-lt"/>
                <a:cs typeface="Arial"/>
              </a:rPr>
              <a:t> </a:t>
            </a:r>
            <a:r>
              <a:rPr sz="1400" spc="60" dirty="0">
                <a:solidFill>
                  <a:srgbClr val="6B7C97"/>
                </a:solidFill>
                <a:latin typeface="+mj-lt"/>
                <a:cs typeface="Arial"/>
              </a:rPr>
              <a:t>strategic</a:t>
            </a:r>
            <a:r>
              <a:rPr sz="1400" spc="170" dirty="0">
                <a:solidFill>
                  <a:srgbClr val="6B7C97"/>
                </a:solidFill>
                <a:latin typeface="+mj-lt"/>
                <a:cs typeface="Arial"/>
              </a:rPr>
              <a:t> </a:t>
            </a:r>
            <a:r>
              <a:rPr sz="1400" dirty="0">
                <a:solidFill>
                  <a:srgbClr val="6B7C97"/>
                </a:solidFill>
                <a:latin typeface="+mj-lt"/>
                <a:cs typeface="Arial"/>
              </a:rPr>
              <a:t>progress,</a:t>
            </a:r>
            <a:r>
              <a:rPr sz="1400" spc="160" dirty="0">
                <a:solidFill>
                  <a:srgbClr val="6B7C97"/>
                </a:solidFill>
                <a:latin typeface="+mj-lt"/>
                <a:cs typeface="Arial"/>
              </a:rPr>
              <a:t> </a:t>
            </a:r>
            <a:r>
              <a:rPr sz="1400" spc="50" dirty="0">
                <a:solidFill>
                  <a:srgbClr val="6B7C97"/>
                </a:solidFill>
                <a:latin typeface="+mj-lt"/>
                <a:cs typeface="Arial"/>
              </a:rPr>
              <a:t>regulatory</a:t>
            </a:r>
            <a:r>
              <a:rPr sz="1400" spc="225" dirty="0">
                <a:solidFill>
                  <a:srgbClr val="6B7C97"/>
                </a:solidFill>
                <a:latin typeface="+mj-lt"/>
                <a:cs typeface="Arial"/>
              </a:rPr>
              <a:t> </a:t>
            </a:r>
            <a:r>
              <a:rPr sz="1400" spc="45" dirty="0">
                <a:solidFill>
                  <a:srgbClr val="6B7C97"/>
                </a:solidFill>
                <a:latin typeface="+mj-lt"/>
                <a:cs typeface="Arial"/>
              </a:rPr>
              <a:t>milestones </a:t>
            </a:r>
            <a:r>
              <a:rPr sz="1400" dirty="0">
                <a:solidFill>
                  <a:srgbClr val="6B7C97"/>
                </a:solidFill>
                <a:latin typeface="+mj-lt"/>
                <a:cs typeface="Arial"/>
              </a:rPr>
              <a:t>and</a:t>
            </a:r>
            <a:r>
              <a:rPr sz="1400" spc="110" dirty="0">
                <a:solidFill>
                  <a:srgbClr val="6B7C97"/>
                </a:solidFill>
                <a:latin typeface="+mj-lt"/>
                <a:cs typeface="Arial"/>
              </a:rPr>
              <a:t> </a:t>
            </a:r>
            <a:r>
              <a:rPr sz="1400" dirty="0">
                <a:solidFill>
                  <a:srgbClr val="6B7C97"/>
                </a:solidFill>
                <a:latin typeface="+mj-lt"/>
                <a:cs typeface="Arial"/>
              </a:rPr>
              <a:t>clinical</a:t>
            </a:r>
            <a:r>
              <a:rPr sz="1400" spc="145" dirty="0">
                <a:solidFill>
                  <a:srgbClr val="6B7C97"/>
                </a:solidFill>
                <a:latin typeface="+mj-lt"/>
                <a:cs typeface="Arial"/>
              </a:rPr>
              <a:t> </a:t>
            </a:r>
            <a:r>
              <a:rPr sz="1400" spc="90" dirty="0">
                <a:solidFill>
                  <a:srgbClr val="6B7C97"/>
                </a:solidFill>
                <a:latin typeface="+mj-lt"/>
                <a:cs typeface="Arial"/>
              </a:rPr>
              <a:t>momentum</a:t>
            </a:r>
            <a:r>
              <a:rPr sz="1400" spc="150" dirty="0">
                <a:solidFill>
                  <a:srgbClr val="6B7C97"/>
                </a:solidFill>
                <a:latin typeface="+mj-lt"/>
                <a:cs typeface="Arial"/>
              </a:rPr>
              <a:t> </a:t>
            </a:r>
            <a:r>
              <a:rPr sz="1400" spc="55" dirty="0">
                <a:solidFill>
                  <a:srgbClr val="6B7C97"/>
                </a:solidFill>
                <a:latin typeface="+mj-lt"/>
                <a:cs typeface="Arial"/>
              </a:rPr>
              <a:t>in</a:t>
            </a:r>
            <a:r>
              <a:rPr sz="1400" spc="140" dirty="0">
                <a:solidFill>
                  <a:srgbClr val="6B7C97"/>
                </a:solidFill>
                <a:latin typeface="+mj-lt"/>
                <a:cs typeface="Arial"/>
              </a:rPr>
              <a:t> </a:t>
            </a:r>
            <a:r>
              <a:rPr sz="1400" spc="70" dirty="0">
                <a:solidFill>
                  <a:srgbClr val="6B7C97"/>
                </a:solidFill>
                <a:latin typeface="+mj-lt"/>
                <a:cs typeface="Arial"/>
              </a:rPr>
              <a:t>primary</a:t>
            </a:r>
            <a:r>
              <a:rPr sz="1400" spc="195" dirty="0">
                <a:solidFill>
                  <a:srgbClr val="6B7C97"/>
                </a:solidFill>
                <a:latin typeface="+mj-lt"/>
                <a:cs typeface="Arial"/>
              </a:rPr>
              <a:t> </a:t>
            </a:r>
            <a:r>
              <a:rPr sz="1400" spc="45" dirty="0">
                <a:solidFill>
                  <a:srgbClr val="6B7C97"/>
                </a:solidFill>
                <a:latin typeface="+mj-lt"/>
                <a:cs typeface="Arial"/>
              </a:rPr>
              <a:t>mitochondrial </a:t>
            </a:r>
            <a:r>
              <a:rPr sz="1400" spc="-10" dirty="0">
                <a:solidFill>
                  <a:srgbClr val="6B7C97"/>
                </a:solidFill>
                <a:latin typeface="+mj-lt"/>
                <a:cs typeface="Arial"/>
              </a:rPr>
              <a:t>disease.</a:t>
            </a:r>
            <a:endParaRPr sz="1400" dirty="0">
              <a:latin typeface="+mj-lt"/>
              <a:cs typeface="Arial"/>
            </a:endParaRPr>
          </a:p>
          <a:p>
            <a:pPr marL="19685" marR="5080" indent="3810">
              <a:lnSpc>
                <a:spcPct val="112400"/>
              </a:lnSpc>
              <a:spcBef>
                <a:spcPts val="700"/>
              </a:spcBef>
            </a:pPr>
            <a:r>
              <a:rPr sz="1400" spc="50" dirty="0">
                <a:solidFill>
                  <a:srgbClr val="6B7C97"/>
                </a:solidFill>
                <a:latin typeface="+mj-lt"/>
                <a:cs typeface="Arial"/>
              </a:rPr>
              <a:t>Abliva's</a:t>
            </a:r>
            <a:r>
              <a:rPr sz="1400" spc="110" dirty="0">
                <a:solidFill>
                  <a:srgbClr val="6B7C97"/>
                </a:solidFill>
                <a:latin typeface="+mj-lt"/>
                <a:cs typeface="Arial"/>
              </a:rPr>
              <a:t> </a:t>
            </a:r>
            <a:r>
              <a:rPr sz="1400" spc="60" dirty="0">
                <a:solidFill>
                  <a:srgbClr val="6B7C97"/>
                </a:solidFill>
                <a:latin typeface="+mj-lt"/>
                <a:cs typeface="Arial"/>
              </a:rPr>
              <a:t>lead</a:t>
            </a:r>
            <a:r>
              <a:rPr sz="1400" spc="114" dirty="0">
                <a:solidFill>
                  <a:srgbClr val="6B7C97"/>
                </a:solidFill>
                <a:latin typeface="+mj-lt"/>
                <a:cs typeface="Arial"/>
              </a:rPr>
              <a:t> </a:t>
            </a:r>
            <a:r>
              <a:rPr sz="1400" dirty="0">
                <a:solidFill>
                  <a:srgbClr val="6B7C97"/>
                </a:solidFill>
                <a:latin typeface="+mj-lt"/>
                <a:cs typeface="Arial"/>
              </a:rPr>
              <a:t>asset,</a:t>
            </a:r>
            <a:r>
              <a:rPr sz="1400" spc="90" dirty="0">
                <a:solidFill>
                  <a:srgbClr val="6B7C97"/>
                </a:solidFill>
                <a:latin typeface="+mj-lt"/>
                <a:cs typeface="Arial"/>
              </a:rPr>
              <a:t> </a:t>
            </a:r>
            <a:r>
              <a:rPr sz="1400" dirty="0">
                <a:solidFill>
                  <a:srgbClr val="6B7C97"/>
                </a:solidFill>
                <a:latin typeface="+mj-lt"/>
                <a:cs typeface="Arial"/>
              </a:rPr>
              <a:t>KL1333,</a:t>
            </a:r>
            <a:r>
              <a:rPr sz="1400" spc="145" dirty="0">
                <a:solidFill>
                  <a:srgbClr val="6B7C97"/>
                </a:solidFill>
                <a:latin typeface="+mj-lt"/>
                <a:cs typeface="Arial"/>
              </a:rPr>
              <a:t> </a:t>
            </a:r>
            <a:r>
              <a:rPr sz="1400" dirty="0">
                <a:solidFill>
                  <a:srgbClr val="6B7C97"/>
                </a:solidFill>
                <a:latin typeface="+mj-lt"/>
                <a:cs typeface="Arial"/>
              </a:rPr>
              <a:t>is</a:t>
            </a:r>
            <a:r>
              <a:rPr sz="1400" spc="95" dirty="0">
                <a:solidFill>
                  <a:srgbClr val="6B7C97"/>
                </a:solidFill>
                <a:latin typeface="+mj-lt"/>
                <a:cs typeface="Arial"/>
              </a:rPr>
              <a:t> </a:t>
            </a:r>
            <a:r>
              <a:rPr sz="1400" spc="65" dirty="0">
                <a:solidFill>
                  <a:srgbClr val="6B7C97"/>
                </a:solidFill>
                <a:latin typeface="+mj-lt"/>
                <a:cs typeface="Arial"/>
              </a:rPr>
              <a:t>being</a:t>
            </a:r>
            <a:r>
              <a:rPr sz="1400" spc="145" dirty="0">
                <a:solidFill>
                  <a:srgbClr val="6B7C97"/>
                </a:solidFill>
                <a:latin typeface="+mj-lt"/>
                <a:cs typeface="Arial"/>
              </a:rPr>
              <a:t> </a:t>
            </a:r>
            <a:r>
              <a:rPr sz="1400" spc="-10" dirty="0">
                <a:solidFill>
                  <a:srgbClr val="6B7C97"/>
                </a:solidFill>
                <a:latin typeface="+mj-lt"/>
                <a:cs typeface="Arial"/>
              </a:rPr>
              <a:t>developed</a:t>
            </a:r>
            <a:r>
              <a:rPr sz="1400" spc="500" dirty="0">
                <a:solidFill>
                  <a:srgbClr val="6B7C97"/>
                </a:solidFill>
                <a:latin typeface="+mj-lt"/>
                <a:cs typeface="Arial"/>
              </a:rPr>
              <a:t> </a:t>
            </a:r>
            <a:r>
              <a:rPr sz="1400" dirty="0">
                <a:solidFill>
                  <a:srgbClr val="6B7C97"/>
                </a:solidFill>
                <a:latin typeface="+mj-lt"/>
                <a:cs typeface="Arial"/>
              </a:rPr>
              <a:t>for</a:t>
            </a:r>
            <a:r>
              <a:rPr sz="1400" spc="170" dirty="0">
                <a:solidFill>
                  <a:srgbClr val="6B7C97"/>
                </a:solidFill>
                <a:latin typeface="+mj-lt"/>
                <a:cs typeface="Arial"/>
              </a:rPr>
              <a:t> </a:t>
            </a:r>
            <a:r>
              <a:rPr sz="1400" spc="70" dirty="0">
                <a:solidFill>
                  <a:srgbClr val="6B7C97"/>
                </a:solidFill>
                <a:latin typeface="+mj-lt"/>
                <a:cs typeface="Arial"/>
              </a:rPr>
              <a:t>patients</a:t>
            </a:r>
            <a:r>
              <a:rPr sz="1400" spc="120" dirty="0">
                <a:solidFill>
                  <a:srgbClr val="6B7C97"/>
                </a:solidFill>
                <a:latin typeface="+mj-lt"/>
                <a:cs typeface="Arial"/>
              </a:rPr>
              <a:t> </a:t>
            </a:r>
            <a:r>
              <a:rPr sz="1400" spc="85" dirty="0">
                <a:solidFill>
                  <a:srgbClr val="6B7C97"/>
                </a:solidFill>
                <a:latin typeface="+mj-lt"/>
                <a:cs typeface="Arial"/>
              </a:rPr>
              <a:t>with</a:t>
            </a:r>
            <a:r>
              <a:rPr sz="1400" spc="75" dirty="0">
                <a:solidFill>
                  <a:srgbClr val="6B7C97"/>
                </a:solidFill>
                <a:latin typeface="+mj-lt"/>
                <a:cs typeface="Arial"/>
              </a:rPr>
              <a:t> </a:t>
            </a:r>
            <a:r>
              <a:rPr sz="1400" spc="55" dirty="0">
                <a:solidFill>
                  <a:srgbClr val="6B7C97"/>
                </a:solidFill>
                <a:latin typeface="+mj-lt"/>
                <a:cs typeface="Arial"/>
              </a:rPr>
              <a:t>mitochondrial</a:t>
            </a:r>
            <a:r>
              <a:rPr sz="1400" spc="125" dirty="0">
                <a:solidFill>
                  <a:srgbClr val="6B7C97"/>
                </a:solidFill>
                <a:latin typeface="+mj-lt"/>
                <a:cs typeface="Arial"/>
              </a:rPr>
              <a:t> </a:t>
            </a:r>
            <a:r>
              <a:rPr sz="1400" dirty="0">
                <a:solidFill>
                  <a:srgbClr val="6B7C97"/>
                </a:solidFill>
                <a:latin typeface="+mj-lt"/>
                <a:cs typeface="Arial"/>
              </a:rPr>
              <a:t>DNA-</a:t>
            </a:r>
            <a:r>
              <a:rPr sz="1400" spc="-10" dirty="0">
                <a:solidFill>
                  <a:srgbClr val="6B7C97"/>
                </a:solidFill>
                <a:latin typeface="+mj-lt"/>
                <a:cs typeface="Arial"/>
              </a:rPr>
              <a:t>driven </a:t>
            </a:r>
            <a:r>
              <a:rPr sz="1400" spc="70" dirty="0">
                <a:solidFill>
                  <a:srgbClr val="6B7C97"/>
                </a:solidFill>
                <a:latin typeface="+mj-lt"/>
                <a:cs typeface="Arial"/>
              </a:rPr>
              <a:t>primary</a:t>
            </a:r>
            <a:r>
              <a:rPr sz="1400" spc="175" dirty="0">
                <a:solidFill>
                  <a:srgbClr val="6B7C97"/>
                </a:solidFill>
                <a:latin typeface="+mj-lt"/>
                <a:cs typeface="Arial"/>
              </a:rPr>
              <a:t> </a:t>
            </a:r>
            <a:r>
              <a:rPr sz="1400" spc="55" dirty="0">
                <a:solidFill>
                  <a:srgbClr val="6B7C97"/>
                </a:solidFill>
                <a:latin typeface="+mj-lt"/>
                <a:cs typeface="Arial"/>
              </a:rPr>
              <a:t>mitochondrial</a:t>
            </a:r>
            <a:r>
              <a:rPr sz="1400" spc="280" dirty="0">
                <a:solidFill>
                  <a:srgbClr val="6B7C97"/>
                </a:solidFill>
                <a:latin typeface="+mj-lt"/>
                <a:cs typeface="Arial"/>
              </a:rPr>
              <a:t> </a:t>
            </a:r>
            <a:r>
              <a:rPr sz="1400" dirty="0">
                <a:solidFill>
                  <a:srgbClr val="6B7C97"/>
                </a:solidFill>
                <a:latin typeface="+mj-lt"/>
                <a:cs typeface="Arial"/>
              </a:rPr>
              <a:t>diseases,</a:t>
            </a:r>
            <a:r>
              <a:rPr sz="1400" spc="240" dirty="0">
                <a:solidFill>
                  <a:srgbClr val="6B7C97"/>
                </a:solidFill>
                <a:latin typeface="+mj-lt"/>
                <a:cs typeface="Arial"/>
              </a:rPr>
              <a:t> </a:t>
            </a:r>
            <a:r>
              <a:rPr sz="1400" dirty="0">
                <a:solidFill>
                  <a:srgbClr val="6B7C97"/>
                </a:solidFill>
                <a:latin typeface="+mj-lt"/>
                <a:cs typeface="Arial"/>
              </a:rPr>
              <a:t>where</a:t>
            </a:r>
            <a:r>
              <a:rPr sz="1400" spc="110" dirty="0">
                <a:solidFill>
                  <a:srgbClr val="6B7C97"/>
                </a:solidFill>
                <a:latin typeface="+mj-lt"/>
                <a:cs typeface="Arial"/>
              </a:rPr>
              <a:t> </a:t>
            </a:r>
            <a:r>
              <a:rPr sz="1400" spc="65" dirty="0">
                <a:solidFill>
                  <a:srgbClr val="6B7C97"/>
                </a:solidFill>
                <a:latin typeface="+mj-lt"/>
                <a:cs typeface="Arial"/>
              </a:rPr>
              <a:t>treatment </a:t>
            </a:r>
            <a:r>
              <a:rPr sz="1400" dirty="0">
                <a:solidFill>
                  <a:srgbClr val="6B7C97"/>
                </a:solidFill>
                <a:latin typeface="+mj-lt"/>
                <a:cs typeface="Arial"/>
              </a:rPr>
              <a:t>options</a:t>
            </a:r>
            <a:r>
              <a:rPr sz="1400" spc="190" dirty="0">
                <a:solidFill>
                  <a:srgbClr val="6B7C97"/>
                </a:solidFill>
                <a:latin typeface="+mj-lt"/>
                <a:cs typeface="Arial"/>
              </a:rPr>
              <a:t> </a:t>
            </a:r>
            <a:r>
              <a:rPr sz="1400" spc="60" dirty="0">
                <a:solidFill>
                  <a:srgbClr val="6B7C97"/>
                </a:solidFill>
                <a:latin typeface="+mj-lt"/>
                <a:cs typeface="Arial"/>
              </a:rPr>
              <a:t>remain</a:t>
            </a:r>
            <a:r>
              <a:rPr sz="1400" spc="155" dirty="0">
                <a:solidFill>
                  <a:srgbClr val="6B7C97"/>
                </a:solidFill>
                <a:latin typeface="+mj-lt"/>
                <a:cs typeface="Arial"/>
              </a:rPr>
              <a:t> </a:t>
            </a:r>
            <a:r>
              <a:rPr sz="1400" spc="75" dirty="0">
                <a:solidFill>
                  <a:srgbClr val="6B7C97"/>
                </a:solidFill>
                <a:latin typeface="+mj-lt"/>
                <a:cs typeface="Arial"/>
              </a:rPr>
              <a:t>limited.</a:t>
            </a:r>
            <a:r>
              <a:rPr sz="1400" spc="100" dirty="0">
                <a:solidFill>
                  <a:srgbClr val="6B7C97"/>
                </a:solidFill>
                <a:latin typeface="+mj-lt"/>
                <a:cs typeface="Arial"/>
              </a:rPr>
              <a:t> </a:t>
            </a:r>
            <a:r>
              <a:rPr sz="1400" dirty="0">
                <a:solidFill>
                  <a:srgbClr val="6B7C97"/>
                </a:solidFill>
                <a:latin typeface="+mj-lt"/>
                <a:cs typeface="Arial"/>
              </a:rPr>
              <a:t>Following</a:t>
            </a:r>
            <a:r>
              <a:rPr sz="1400" spc="215" dirty="0">
                <a:solidFill>
                  <a:srgbClr val="6B7C97"/>
                </a:solidFill>
                <a:latin typeface="+mj-lt"/>
                <a:cs typeface="Arial"/>
              </a:rPr>
              <a:t> </a:t>
            </a:r>
            <a:r>
              <a:rPr sz="1400" spc="55" dirty="0">
                <a:solidFill>
                  <a:srgbClr val="6B7C97"/>
                </a:solidFill>
                <a:latin typeface="+mj-lt"/>
                <a:cs typeface="Arial"/>
              </a:rPr>
              <a:t>positive</a:t>
            </a:r>
            <a:r>
              <a:rPr sz="1400" spc="185" dirty="0">
                <a:solidFill>
                  <a:srgbClr val="6B7C97"/>
                </a:solidFill>
                <a:latin typeface="+mj-lt"/>
                <a:cs typeface="Arial"/>
              </a:rPr>
              <a:t> </a:t>
            </a:r>
            <a:r>
              <a:rPr sz="1400" spc="-10" dirty="0">
                <a:solidFill>
                  <a:srgbClr val="6B7C97"/>
                </a:solidFill>
                <a:latin typeface="+mj-lt"/>
                <a:cs typeface="Arial"/>
              </a:rPr>
              <a:t>clinical </a:t>
            </a:r>
            <a:r>
              <a:rPr sz="1400" dirty="0">
                <a:solidFill>
                  <a:srgbClr val="6B7C97"/>
                </a:solidFill>
                <a:latin typeface="+mj-lt"/>
                <a:cs typeface="Arial"/>
              </a:rPr>
              <a:t>progress,</a:t>
            </a:r>
            <a:r>
              <a:rPr sz="1400" spc="265" dirty="0">
                <a:solidFill>
                  <a:srgbClr val="6B7C97"/>
                </a:solidFill>
                <a:latin typeface="+mj-lt"/>
                <a:cs typeface="Arial"/>
              </a:rPr>
              <a:t> </a:t>
            </a:r>
            <a:r>
              <a:rPr sz="1400" dirty="0">
                <a:solidFill>
                  <a:srgbClr val="6B7C97"/>
                </a:solidFill>
                <a:latin typeface="+mj-lt"/>
                <a:cs typeface="Arial"/>
              </a:rPr>
              <a:t>Pharming</a:t>
            </a:r>
            <a:r>
              <a:rPr sz="1400" spc="375" dirty="0">
                <a:solidFill>
                  <a:srgbClr val="6B7C97"/>
                </a:solidFill>
                <a:latin typeface="+mj-lt"/>
                <a:cs typeface="Arial"/>
              </a:rPr>
              <a:t> </a:t>
            </a:r>
            <a:r>
              <a:rPr sz="1400" spc="55" dirty="0">
                <a:solidFill>
                  <a:srgbClr val="6B7C97"/>
                </a:solidFill>
                <a:latin typeface="+mj-lt"/>
                <a:cs typeface="Arial"/>
              </a:rPr>
              <a:t>completed</a:t>
            </a:r>
            <a:r>
              <a:rPr sz="1400" spc="315" dirty="0">
                <a:solidFill>
                  <a:srgbClr val="6B7C97"/>
                </a:solidFill>
                <a:latin typeface="+mj-lt"/>
                <a:cs typeface="Arial"/>
              </a:rPr>
              <a:t> </a:t>
            </a:r>
            <a:r>
              <a:rPr sz="1400" dirty="0">
                <a:solidFill>
                  <a:srgbClr val="6B7C97"/>
                </a:solidFill>
                <a:latin typeface="+mj-lt"/>
                <a:cs typeface="Arial"/>
              </a:rPr>
              <a:t>its</a:t>
            </a:r>
            <a:r>
              <a:rPr sz="1400" spc="385" dirty="0">
                <a:solidFill>
                  <a:srgbClr val="6B7C97"/>
                </a:solidFill>
                <a:latin typeface="+mj-lt"/>
                <a:cs typeface="Arial"/>
              </a:rPr>
              <a:t> </a:t>
            </a:r>
            <a:r>
              <a:rPr sz="1400" dirty="0">
                <a:solidFill>
                  <a:srgbClr val="6B7C97"/>
                </a:solidFill>
                <a:latin typeface="+mj-lt"/>
                <a:cs typeface="Arial"/>
              </a:rPr>
              <a:t>acquisition</a:t>
            </a:r>
            <a:r>
              <a:rPr sz="1400" spc="395" dirty="0">
                <a:solidFill>
                  <a:srgbClr val="6B7C97"/>
                </a:solidFill>
                <a:latin typeface="+mj-lt"/>
                <a:cs typeface="Arial"/>
              </a:rPr>
              <a:t> </a:t>
            </a:r>
            <a:r>
              <a:rPr sz="1400" spc="-25" dirty="0">
                <a:solidFill>
                  <a:srgbClr val="6B7C97"/>
                </a:solidFill>
                <a:latin typeface="+mj-lt"/>
                <a:cs typeface="Arial"/>
              </a:rPr>
              <a:t>of </a:t>
            </a:r>
            <a:r>
              <a:rPr sz="1400" dirty="0">
                <a:solidFill>
                  <a:srgbClr val="6B7C97"/>
                </a:solidFill>
                <a:latin typeface="+mj-lt"/>
                <a:cs typeface="Arial"/>
              </a:rPr>
              <a:t>Abliva</a:t>
            </a:r>
            <a:r>
              <a:rPr sz="1400" spc="195" dirty="0">
                <a:solidFill>
                  <a:srgbClr val="6B7C97"/>
                </a:solidFill>
                <a:latin typeface="+mj-lt"/>
                <a:cs typeface="Arial"/>
              </a:rPr>
              <a:t> </a:t>
            </a:r>
            <a:r>
              <a:rPr sz="1400" dirty="0">
                <a:solidFill>
                  <a:srgbClr val="6B7C97"/>
                </a:solidFill>
                <a:latin typeface="+mj-lt"/>
                <a:cs typeface="Arial"/>
              </a:rPr>
              <a:t>in</a:t>
            </a:r>
            <a:r>
              <a:rPr sz="1400" spc="300" dirty="0">
                <a:solidFill>
                  <a:srgbClr val="6B7C97"/>
                </a:solidFill>
                <a:latin typeface="+mj-lt"/>
                <a:cs typeface="Arial"/>
              </a:rPr>
              <a:t> </a:t>
            </a:r>
            <a:r>
              <a:rPr sz="1400" spc="45" dirty="0">
                <a:solidFill>
                  <a:srgbClr val="6B7C97"/>
                </a:solidFill>
                <a:latin typeface="+mj-lt"/>
                <a:cs typeface="Arial"/>
              </a:rPr>
              <a:t>2025.</a:t>
            </a:r>
            <a:endParaRPr sz="1400" dirty="0">
              <a:latin typeface="+mj-lt"/>
              <a:cs typeface="Arial"/>
            </a:endParaRPr>
          </a:p>
        </p:txBody>
      </p:sp>
      <p:sp>
        <p:nvSpPr>
          <p:cNvPr id="40" name="TekstSylinder 39">
            <a:extLst>
              <a:ext uri="{FF2B5EF4-FFF2-40B4-BE49-F238E27FC236}">
                <a16:creationId xmlns:a16="http://schemas.microsoft.com/office/drawing/2014/main" id="{7F622DB9-15C0-8A04-2DE3-2477F4163488}"/>
              </a:ext>
            </a:extLst>
          </p:cNvPr>
          <p:cNvSpPr txBox="1"/>
          <p:nvPr/>
        </p:nvSpPr>
        <p:spPr>
          <a:xfrm>
            <a:off x="5858699" y="14519527"/>
            <a:ext cx="1219200" cy="1594394"/>
          </a:xfrm>
          <a:prstGeom prst="rect">
            <a:avLst/>
          </a:prstGeom>
          <a:solidFill>
            <a:srgbClr val="FFFFFF"/>
          </a:solidFill>
        </p:spPr>
        <p:txBody>
          <a:bodyPr wrap="square" rtlCol="0">
            <a:spAutoFit/>
          </a:bodyPr>
          <a:lstStyle/>
          <a:p>
            <a:endParaRPr lang="nb-NO" dirty="0"/>
          </a:p>
        </p:txBody>
      </p:sp>
      <p:sp>
        <p:nvSpPr>
          <p:cNvPr id="18" name="object 18"/>
          <p:cNvSpPr txBox="1"/>
          <p:nvPr/>
        </p:nvSpPr>
        <p:spPr>
          <a:xfrm>
            <a:off x="6431469" y="11347450"/>
            <a:ext cx="2527300" cy="186590"/>
          </a:xfrm>
          <a:prstGeom prst="rect">
            <a:avLst/>
          </a:prstGeom>
        </p:spPr>
        <p:txBody>
          <a:bodyPr vert="horz" wrap="square" lIns="0" tIns="17145" rIns="0" bIns="0" rtlCol="0">
            <a:spAutoFit/>
          </a:bodyPr>
          <a:lstStyle/>
          <a:p>
            <a:pPr marL="12700">
              <a:lnSpc>
                <a:spcPct val="100000"/>
              </a:lnSpc>
              <a:spcBef>
                <a:spcPts val="135"/>
              </a:spcBef>
            </a:pPr>
            <a:r>
              <a:rPr sz="1100" b="1" spc="50" dirty="0">
                <a:solidFill>
                  <a:srgbClr val="317095"/>
                </a:solidFill>
                <a:latin typeface="+mj-lt"/>
                <a:cs typeface="Arial"/>
              </a:rPr>
              <a:t>PRECISION</a:t>
            </a:r>
            <a:r>
              <a:rPr sz="1100" b="1" spc="270" dirty="0">
                <a:solidFill>
                  <a:srgbClr val="317095"/>
                </a:solidFill>
                <a:latin typeface="+mj-lt"/>
                <a:cs typeface="Arial"/>
              </a:rPr>
              <a:t> </a:t>
            </a:r>
            <a:r>
              <a:rPr sz="1100" b="1" dirty="0">
                <a:solidFill>
                  <a:srgbClr val="317095"/>
                </a:solidFill>
                <a:latin typeface="+mj-lt"/>
                <a:cs typeface="Arial"/>
              </a:rPr>
              <a:t>CANCER</a:t>
            </a:r>
            <a:r>
              <a:rPr sz="1100" b="1" spc="220" dirty="0">
                <a:solidFill>
                  <a:srgbClr val="317095"/>
                </a:solidFill>
                <a:latin typeface="+mj-lt"/>
                <a:cs typeface="Arial"/>
              </a:rPr>
              <a:t> </a:t>
            </a:r>
            <a:r>
              <a:rPr sz="1100" b="1" spc="80" dirty="0">
                <a:solidFill>
                  <a:srgbClr val="317095"/>
                </a:solidFill>
                <a:latin typeface="+mj-lt"/>
                <a:cs typeface="Arial"/>
              </a:rPr>
              <a:t>MONITORING</a:t>
            </a:r>
            <a:endParaRPr sz="1100">
              <a:latin typeface="+mj-lt"/>
              <a:cs typeface="Arial"/>
            </a:endParaRPr>
          </a:p>
        </p:txBody>
      </p:sp>
      <p:sp>
        <p:nvSpPr>
          <p:cNvPr id="19" name="object 19"/>
          <p:cNvSpPr txBox="1"/>
          <p:nvPr/>
        </p:nvSpPr>
        <p:spPr>
          <a:xfrm>
            <a:off x="6427987" y="11634545"/>
            <a:ext cx="3981450" cy="3502369"/>
          </a:xfrm>
          <a:prstGeom prst="rect">
            <a:avLst/>
          </a:prstGeom>
        </p:spPr>
        <p:txBody>
          <a:bodyPr vert="horz" wrap="square" lIns="0" tIns="14605" rIns="0" bIns="0" rtlCol="0">
            <a:spAutoFit/>
          </a:bodyPr>
          <a:lstStyle/>
          <a:p>
            <a:pPr marL="20955">
              <a:lnSpc>
                <a:spcPct val="100000"/>
              </a:lnSpc>
              <a:spcBef>
                <a:spcPts val="115"/>
              </a:spcBef>
            </a:pPr>
            <a:r>
              <a:rPr sz="4000" spc="210" dirty="0">
                <a:solidFill>
                  <a:srgbClr val="182A49"/>
                </a:solidFill>
                <a:latin typeface="+mj-lt"/>
                <a:cs typeface="Times New Roman"/>
              </a:rPr>
              <a:t>Saga</a:t>
            </a:r>
            <a:r>
              <a:rPr sz="4000" spc="215" dirty="0">
                <a:solidFill>
                  <a:srgbClr val="182A49"/>
                </a:solidFill>
                <a:latin typeface="+mj-lt"/>
                <a:cs typeface="Times New Roman"/>
              </a:rPr>
              <a:t> </a:t>
            </a:r>
            <a:r>
              <a:rPr sz="4000" spc="100" dirty="0">
                <a:solidFill>
                  <a:srgbClr val="182A49"/>
                </a:solidFill>
                <a:latin typeface="+mj-lt"/>
                <a:cs typeface="Times New Roman"/>
              </a:rPr>
              <a:t>Diagnostics</a:t>
            </a:r>
            <a:endParaRPr sz="4000" dirty="0">
              <a:latin typeface="+mj-lt"/>
              <a:cs typeface="Times New Roman"/>
            </a:endParaRPr>
          </a:p>
          <a:p>
            <a:pPr marL="13335" marR="5080" indent="4445">
              <a:lnSpc>
                <a:spcPct val="112400"/>
              </a:lnSpc>
              <a:spcBef>
                <a:spcPts val="985"/>
              </a:spcBef>
            </a:pPr>
            <a:r>
              <a:rPr sz="1400" dirty="0">
                <a:solidFill>
                  <a:srgbClr val="6B7C97"/>
                </a:solidFill>
                <a:latin typeface="+mj-lt"/>
                <a:cs typeface="Arial"/>
              </a:rPr>
              <a:t>Saga</a:t>
            </a:r>
            <a:r>
              <a:rPr sz="1400" spc="165" dirty="0">
                <a:solidFill>
                  <a:srgbClr val="6B7C97"/>
                </a:solidFill>
                <a:latin typeface="+mj-lt"/>
                <a:cs typeface="Arial"/>
              </a:rPr>
              <a:t> </a:t>
            </a:r>
            <a:r>
              <a:rPr sz="1400" dirty="0">
                <a:solidFill>
                  <a:srgbClr val="6B7C97"/>
                </a:solidFill>
                <a:latin typeface="+mj-lt"/>
                <a:cs typeface="Arial"/>
              </a:rPr>
              <a:t>Diagnostics</a:t>
            </a:r>
            <a:r>
              <a:rPr sz="1400" spc="400" dirty="0">
                <a:solidFill>
                  <a:srgbClr val="6B7C97"/>
                </a:solidFill>
                <a:latin typeface="+mj-lt"/>
                <a:cs typeface="Arial"/>
              </a:rPr>
              <a:t> </a:t>
            </a:r>
            <a:r>
              <a:rPr sz="1400" spc="50" dirty="0">
                <a:solidFill>
                  <a:srgbClr val="6B7C97"/>
                </a:solidFill>
                <a:latin typeface="+mj-lt"/>
                <a:cs typeface="Arial"/>
              </a:rPr>
              <a:t>demonstrates</a:t>
            </a:r>
            <a:r>
              <a:rPr sz="1400" spc="235" dirty="0">
                <a:solidFill>
                  <a:srgbClr val="6B7C97"/>
                </a:solidFill>
                <a:latin typeface="+mj-lt"/>
                <a:cs typeface="Arial"/>
              </a:rPr>
              <a:t> </a:t>
            </a:r>
            <a:r>
              <a:rPr sz="1400" dirty="0">
                <a:solidFill>
                  <a:srgbClr val="6B7C97"/>
                </a:solidFill>
                <a:latin typeface="+mj-lt"/>
                <a:cs typeface="Arial"/>
              </a:rPr>
              <a:t>the</a:t>
            </a:r>
            <a:r>
              <a:rPr sz="1400" spc="265" dirty="0">
                <a:solidFill>
                  <a:srgbClr val="6B7C97"/>
                </a:solidFill>
                <a:latin typeface="+mj-lt"/>
                <a:cs typeface="Arial"/>
              </a:rPr>
              <a:t> </a:t>
            </a:r>
            <a:r>
              <a:rPr sz="1400" spc="60" dirty="0">
                <a:solidFill>
                  <a:srgbClr val="6B7C97"/>
                </a:solidFill>
                <a:latin typeface="+mj-lt"/>
                <a:cs typeface="Arial"/>
              </a:rPr>
              <a:t>impact </a:t>
            </a:r>
            <a:r>
              <a:rPr sz="1400" spc="65" dirty="0">
                <a:solidFill>
                  <a:srgbClr val="6B7C97"/>
                </a:solidFill>
                <a:latin typeface="+mj-lt"/>
                <a:cs typeface="Arial"/>
              </a:rPr>
              <a:t>potential</a:t>
            </a:r>
            <a:r>
              <a:rPr sz="1400" spc="180" dirty="0">
                <a:solidFill>
                  <a:srgbClr val="6B7C97"/>
                </a:solidFill>
                <a:latin typeface="+mj-lt"/>
                <a:cs typeface="Arial"/>
              </a:rPr>
              <a:t> </a:t>
            </a:r>
            <a:r>
              <a:rPr sz="1400" spc="20" dirty="0">
                <a:solidFill>
                  <a:srgbClr val="6B7C97"/>
                </a:solidFill>
                <a:latin typeface="+mj-lt"/>
                <a:cs typeface="Arial"/>
              </a:rPr>
              <a:t>of</a:t>
            </a:r>
            <a:r>
              <a:rPr sz="1400" spc="130" dirty="0">
                <a:solidFill>
                  <a:srgbClr val="6B7C97"/>
                </a:solidFill>
                <a:latin typeface="+mj-lt"/>
                <a:cs typeface="Arial"/>
              </a:rPr>
              <a:t> </a:t>
            </a:r>
            <a:r>
              <a:rPr sz="1400" spc="20" dirty="0">
                <a:solidFill>
                  <a:srgbClr val="6B7C97"/>
                </a:solidFill>
                <a:latin typeface="+mj-lt"/>
                <a:cs typeface="Arial"/>
              </a:rPr>
              <a:t>precision</a:t>
            </a:r>
            <a:r>
              <a:rPr sz="1400" spc="240" dirty="0">
                <a:solidFill>
                  <a:srgbClr val="6B7C97"/>
                </a:solidFill>
                <a:latin typeface="+mj-lt"/>
                <a:cs typeface="Arial"/>
              </a:rPr>
              <a:t> </a:t>
            </a:r>
            <a:r>
              <a:rPr sz="1400" spc="20" dirty="0">
                <a:solidFill>
                  <a:srgbClr val="6B7C97"/>
                </a:solidFill>
                <a:latin typeface="+mj-lt"/>
                <a:cs typeface="Arial"/>
              </a:rPr>
              <a:t>diagnostics.</a:t>
            </a:r>
            <a:r>
              <a:rPr sz="1400" spc="85" dirty="0">
                <a:solidFill>
                  <a:srgbClr val="6B7C97"/>
                </a:solidFill>
                <a:latin typeface="+mj-lt"/>
                <a:cs typeface="Arial"/>
              </a:rPr>
              <a:t> </a:t>
            </a:r>
            <a:r>
              <a:rPr sz="1400" spc="20" dirty="0">
                <a:solidFill>
                  <a:srgbClr val="6B7C97"/>
                </a:solidFill>
                <a:latin typeface="+mj-lt"/>
                <a:cs typeface="Arial"/>
              </a:rPr>
              <a:t>The</a:t>
            </a:r>
            <a:r>
              <a:rPr sz="1400" spc="190" dirty="0">
                <a:solidFill>
                  <a:srgbClr val="6B7C97"/>
                </a:solidFill>
                <a:latin typeface="+mj-lt"/>
                <a:cs typeface="Arial"/>
              </a:rPr>
              <a:t> </a:t>
            </a:r>
            <a:r>
              <a:rPr sz="1400" spc="-10" dirty="0">
                <a:solidFill>
                  <a:srgbClr val="6B7C97"/>
                </a:solidFill>
                <a:latin typeface="+mj-lt"/>
                <a:cs typeface="Arial"/>
              </a:rPr>
              <a:t>company </a:t>
            </a:r>
            <a:r>
              <a:rPr sz="1400" dirty="0">
                <a:solidFill>
                  <a:srgbClr val="6B7C97"/>
                </a:solidFill>
                <a:latin typeface="+mj-lt"/>
                <a:cs typeface="Arial"/>
              </a:rPr>
              <a:t>has</a:t>
            </a:r>
            <a:r>
              <a:rPr sz="1400" spc="305" dirty="0">
                <a:solidFill>
                  <a:srgbClr val="6B7C97"/>
                </a:solidFill>
                <a:latin typeface="+mj-lt"/>
                <a:cs typeface="Arial"/>
              </a:rPr>
              <a:t> </a:t>
            </a:r>
            <a:r>
              <a:rPr sz="1400" dirty="0">
                <a:solidFill>
                  <a:srgbClr val="6B7C97"/>
                </a:solidFill>
                <a:latin typeface="+mj-lt"/>
                <a:cs typeface="Arial"/>
              </a:rPr>
              <a:t>developed</a:t>
            </a:r>
            <a:r>
              <a:rPr sz="1400" spc="280" dirty="0">
                <a:solidFill>
                  <a:srgbClr val="6B7C97"/>
                </a:solidFill>
                <a:latin typeface="+mj-lt"/>
                <a:cs typeface="Arial"/>
              </a:rPr>
              <a:t> </a:t>
            </a:r>
            <a:r>
              <a:rPr sz="1400" dirty="0">
                <a:solidFill>
                  <a:srgbClr val="6B7C97"/>
                </a:solidFill>
                <a:latin typeface="+mj-lt"/>
                <a:cs typeface="Arial"/>
              </a:rPr>
              <a:t>Pathlight™,</a:t>
            </a:r>
            <a:r>
              <a:rPr sz="1400" spc="340" dirty="0">
                <a:solidFill>
                  <a:srgbClr val="6B7C97"/>
                </a:solidFill>
                <a:latin typeface="+mj-lt"/>
                <a:cs typeface="Arial"/>
              </a:rPr>
              <a:t> </a:t>
            </a:r>
            <a:r>
              <a:rPr sz="1400" spc="50" dirty="0">
                <a:solidFill>
                  <a:srgbClr val="6B7C97"/>
                </a:solidFill>
                <a:latin typeface="+mj-lt"/>
                <a:cs typeface="Arial"/>
              </a:rPr>
              <a:t>a</a:t>
            </a:r>
            <a:r>
              <a:rPr sz="1400" spc="215" dirty="0">
                <a:solidFill>
                  <a:srgbClr val="6B7C97"/>
                </a:solidFill>
                <a:latin typeface="+mj-lt"/>
                <a:cs typeface="Arial"/>
              </a:rPr>
              <a:t> </a:t>
            </a:r>
            <a:r>
              <a:rPr sz="1400" spc="65" dirty="0">
                <a:solidFill>
                  <a:srgbClr val="6B7C97"/>
                </a:solidFill>
                <a:latin typeface="+mj-lt"/>
                <a:cs typeface="Arial"/>
              </a:rPr>
              <a:t>tumor-</a:t>
            </a:r>
            <a:r>
              <a:rPr sz="1400" spc="55" dirty="0">
                <a:solidFill>
                  <a:srgbClr val="6B7C97"/>
                </a:solidFill>
                <a:latin typeface="+mj-lt"/>
                <a:cs typeface="Arial"/>
              </a:rPr>
              <a:t>informed molecular</a:t>
            </a:r>
            <a:r>
              <a:rPr sz="1400" spc="235" dirty="0">
                <a:solidFill>
                  <a:srgbClr val="6B7C97"/>
                </a:solidFill>
                <a:latin typeface="+mj-lt"/>
                <a:cs typeface="Arial"/>
              </a:rPr>
              <a:t> </a:t>
            </a:r>
            <a:r>
              <a:rPr sz="1400" dirty="0">
                <a:solidFill>
                  <a:srgbClr val="6B7C97"/>
                </a:solidFill>
                <a:latin typeface="+mj-lt"/>
                <a:cs typeface="Arial"/>
              </a:rPr>
              <a:t>residual</a:t>
            </a:r>
            <a:r>
              <a:rPr sz="1400" spc="270" dirty="0">
                <a:solidFill>
                  <a:srgbClr val="6B7C97"/>
                </a:solidFill>
                <a:latin typeface="+mj-lt"/>
                <a:cs typeface="Arial"/>
              </a:rPr>
              <a:t> </a:t>
            </a:r>
            <a:r>
              <a:rPr sz="1400" dirty="0">
                <a:solidFill>
                  <a:srgbClr val="6B7C97"/>
                </a:solidFill>
                <a:latin typeface="+mj-lt"/>
                <a:cs typeface="Arial"/>
              </a:rPr>
              <a:t>disease</a:t>
            </a:r>
            <a:r>
              <a:rPr sz="1400" spc="270" dirty="0">
                <a:solidFill>
                  <a:srgbClr val="6B7C97"/>
                </a:solidFill>
                <a:latin typeface="+mj-lt"/>
                <a:cs typeface="Arial"/>
              </a:rPr>
              <a:t> </a:t>
            </a:r>
            <a:r>
              <a:rPr sz="1400" spc="75" dirty="0">
                <a:solidFill>
                  <a:srgbClr val="6B7C97"/>
                </a:solidFill>
                <a:latin typeface="+mj-lt"/>
                <a:cs typeface="Arial"/>
              </a:rPr>
              <a:t>platform</a:t>
            </a:r>
            <a:r>
              <a:rPr sz="1400" spc="190" dirty="0">
                <a:solidFill>
                  <a:srgbClr val="6B7C97"/>
                </a:solidFill>
                <a:latin typeface="+mj-lt"/>
                <a:cs typeface="Arial"/>
              </a:rPr>
              <a:t> </a:t>
            </a:r>
            <a:r>
              <a:rPr sz="1400" dirty="0">
                <a:solidFill>
                  <a:srgbClr val="6B7C97"/>
                </a:solidFill>
                <a:latin typeface="+mj-lt"/>
                <a:cs typeface="Arial"/>
              </a:rPr>
              <a:t>designed</a:t>
            </a:r>
            <a:r>
              <a:rPr sz="1400" spc="250" dirty="0">
                <a:solidFill>
                  <a:srgbClr val="6B7C97"/>
                </a:solidFill>
                <a:latin typeface="+mj-lt"/>
                <a:cs typeface="Arial"/>
              </a:rPr>
              <a:t> </a:t>
            </a:r>
            <a:r>
              <a:rPr sz="1400" spc="-25" dirty="0">
                <a:solidFill>
                  <a:srgbClr val="6B7C97"/>
                </a:solidFill>
                <a:latin typeface="+mj-lt"/>
                <a:cs typeface="Arial"/>
              </a:rPr>
              <a:t>to </a:t>
            </a:r>
            <a:r>
              <a:rPr sz="1400" spc="65" dirty="0">
                <a:solidFill>
                  <a:srgbClr val="6B7C97"/>
                </a:solidFill>
                <a:latin typeface="+mj-lt"/>
                <a:cs typeface="Arial"/>
              </a:rPr>
              <a:t>detect</a:t>
            </a:r>
            <a:r>
              <a:rPr sz="1400" spc="135" dirty="0">
                <a:solidFill>
                  <a:srgbClr val="6B7C97"/>
                </a:solidFill>
                <a:latin typeface="+mj-lt"/>
                <a:cs typeface="Arial"/>
              </a:rPr>
              <a:t> </a:t>
            </a:r>
            <a:r>
              <a:rPr sz="1400" spc="70" dirty="0">
                <a:solidFill>
                  <a:srgbClr val="6B7C97"/>
                </a:solidFill>
                <a:latin typeface="+mj-lt"/>
                <a:cs typeface="Arial"/>
              </a:rPr>
              <a:t>and</a:t>
            </a:r>
            <a:r>
              <a:rPr sz="1400" spc="80" dirty="0">
                <a:solidFill>
                  <a:srgbClr val="6B7C97"/>
                </a:solidFill>
                <a:latin typeface="+mj-lt"/>
                <a:cs typeface="Arial"/>
              </a:rPr>
              <a:t> </a:t>
            </a:r>
            <a:r>
              <a:rPr sz="1400" spc="75" dirty="0">
                <a:solidFill>
                  <a:srgbClr val="6B7C97"/>
                </a:solidFill>
                <a:latin typeface="+mj-lt"/>
                <a:cs typeface="Arial"/>
              </a:rPr>
              <a:t>monitor</a:t>
            </a:r>
            <a:r>
              <a:rPr sz="1400" spc="204" dirty="0">
                <a:solidFill>
                  <a:srgbClr val="6B7C97"/>
                </a:solidFill>
                <a:latin typeface="+mj-lt"/>
                <a:cs typeface="Arial"/>
              </a:rPr>
              <a:t> </a:t>
            </a:r>
            <a:r>
              <a:rPr sz="1400" dirty="0">
                <a:solidFill>
                  <a:srgbClr val="6B7C97"/>
                </a:solidFill>
                <a:latin typeface="+mj-lt"/>
                <a:cs typeface="Arial"/>
              </a:rPr>
              <a:t>cancer</a:t>
            </a:r>
            <a:r>
              <a:rPr sz="1400" spc="170" dirty="0">
                <a:solidFill>
                  <a:srgbClr val="6B7C97"/>
                </a:solidFill>
                <a:latin typeface="+mj-lt"/>
                <a:cs typeface="Arial"/>
              </a:rPr>
              <a:t> </a:t>
            </a:r>
            <a:r>
              <a:rPr sz="1400" dirty="0">
                <a:solidFill>
                  <a:srgbClr val="6B7C97"/>
                </a:solidFill>
                <a:latin typeface="+mj-lt"/>
                <a:cs typeface="Arial"/>
              </a:rPr>
              <a:t>recurrence</a:t>
            </a:r>
            <a:r>
              <a:rPr sz="1400" spc="215" dirty="0">
                <a:solidFill>
                  <a:srgbClr val="6B7C97"/>
                </a:solidFill>
                <a:latin typeface="+mj-lt"/>
                <a:cs typeface="Arial"/>
              </a:rPr>
              <a:t> </a:t>
            </a:r>
            <a:r>
              <a:rPr sz="1400" spc="85" dirty="0">
                <a:solidFill>
                  <a:srgbClr val="6B7C97"/>
                </a:solidFill>
                <a:latin typeface="+mj-lt"/>
                <a:cs typeface="Arial"/>
              </a:rPr>
              <a:t>with</a:t>
            </a:r>
            <a:r>
              <a:rPr sz="1400" spc="114" dirty="0">
                <a:solidFill>
                  <a:srgbClr val="6B7C97"/>
                </a:solidFill>
                <a:latin typeface="+mj-lt"/>
                <a:cs typeface="Arial"/>
              </a:rPr>
              <a:t> </a:t>
            </a:r>
            <a:r>
              <a:rPr sz="1400" spc="50" dirty="0">
                <a:solidFill>
                  <a:srgbClr val="6B7C97"/>
                </a:solidFill>
                <a:latin typeface="+mj-lt"/>
                <a:cs typeface="Arial"/>
              </a:rPr>
              <a:t>high </a:t>
            </a:r>
            <a:r>
              <a:rPr sz="1400" spc="-10" dirty="0">
                <a:solidFill>
                  <a:srgbClr val="6B7C97"/>
                </a:solidFill>
                <a:latin typeface="+mj-lt"/>
                <a:cs typeface="Arial"/>
              </a:rPr>
              <a:t>sensitivity.</a:t>
            </a:r>
            <a:endParaRPr sz="1400" dirty="0">
              <a:latin typeface="+mj-lt"/>
              <a:cs typeface="Arial"/>
            </a:endParaRPr>
          </a:p>
          <a:p>
            <a:pPr marL="12700" marR="26034" indent="-635">
              <a:lnSpc>
                <a:spcPct val="112400"/>
              </a:lnSpc>
              <a:spcBef>
                <a:spcPts val="765"/>
              </a:spcBef>
            </a:pPr>
            <a:r>
              <a:rPr sz="1400" dirty="0">
                <a:solidFill>
                  <a:srgbClr val="6B7C97"/>
                </a:solidFill>
                <a:latin typeface="+mj-lt"/>
                <a:cs typeface="Arial"/>
              </a:rPr>
              <a:t>Roche</a:t>
            </a:r>
            <a:r>
              <a:rPr sz="1400" spc="200" dirty="0">
                <a:solidFill>
                  <a:srgbClr val="6B7C97"/>
                </a:solidFill>
                <a:latin typeface="+mj-lt"/>
                <a:cs typeface="Arial"/>
              </a:rPr>
              <a:t> </a:t>
            </a:r>
            <a:r>
              <a:rPr sz="1400" dirty="0">
                <a:solidFill>
                  <a:srgbClr val="6B7C97"/>
                </a:solidFill>
                <a:latin typeface="+mj-lt"/>
                <a:cs typeface="Arial"/>
              </a:rPr>
              <a:t>/</a:t>
            </a:r>
            <a:r>
              <a:rPr sz="1400" spc="250" dirty="0">
                <a:solidFill>
                  <a:srgbClr val="6B7C97"/>
                </a:solidFill>
                <a:latin typeface="+mj-lt"/>
                <a:cs typeface="Arial"/>
              </a:rPr>
              <a:t> </a:t>
            </a:r>
            <a:r>
              <a:rPr sz="1400" dirty="0">
                <a:solidFill>
                  <a:srgbClr val="6B7C97"/>
                </a:solidFill>
                <a:latin typeface="+mj-lt"/>
                <a:cs typeface="Arial"/>
              </a:rPr>
              <a:t>Foundation</a:t>
            </a:r>
            <a:r>
              <a:rPr sz="1400" spc="300" dirty="0">
                <a:solidFill>
                  <a:srgbClr val="6B7C97"/>
                </a:solidFill>
                <a:latin typeface="+mj-lt"/>
                <a:cs typeface="Arial"/>
              </a:rPr>
              <a:t> </a:t>
            </a:r>
            <a:r>
              <a:rPr sz="1400" dirty="0">
                <a:solidFill>
                  <a:srgbClr val="6B7C97"/>
                </a:solidFill>
                <a:latin typeface="+mj-lt"/>
                <a:cs typeface="Arial"/>
              </a:rPr>
              <a:t>Medicine</a:t>
            </a:r>
            <a:r>
              <a:rPr sz="1400" spc="330" dirty="0">
                <a:solidFill>
                  <a:srgbClr val="6B7C97"/>
                </a:solidFill>
                <a:latin typeface="+mj-lt"/>
                <a:cs typeface="Arial"/>
              </a:rPr>
              <a:t> </a:t>
            </a:r>
            <a:r>
              <a:rPr sz="1400" dirty="0">
                <a:solidFill>
                  <a:srgbClr val="6B7C97"/>
                </a:solidFill>
                <a:latin typeface="+mj-lt"/>
                <a:cs typeface="Arial"/>
              </a:rPr>
              <a:t>has</a:t>
            </a:r>
            <a:r>
              <a:rPr sz="1400" spc="265" dirty="0">
                <a:solidFill>
                  <a:srgbClr val="6B7C97"/>
                </a:solidFill>
                <a:latin typeface="+mj-lt"/>
                <a:cs typeface="Arial"/>
              </a:rPr>
              <a:t> </a:t>
            </a:r>
            <a:r>
              <a:rPr sz="1400" dirty="0">
                <a:solidFill>
                  <a:srgbClr val="6B7C97"/>
                </a:solidFill>
                <a:latin typeface="+mj-lt"/>
                <a:cs typeface="Arial"/>
              </a:rPr>
              <a:t>announced</a:t>
            </a:r>
            <a:r>
              <a:rPr sz="1400" spc="310" dirty="0">
                <a:solidFill>
                  <a:srgbClr val="6B7C97"/>
                </a:solidFill>
                <a:latin typeface="+mj-lt"/>
                <a:cs typeface="Arial"/>
              </a:rPr>
              <a:t> </a:t>
            </a:r>
            <a:r>
              <a:rPr sz="1400" spc="-25" dirty="0">
                <a:solidFill>
                  <a:srgbClr val="6B7C97"/>
                </a:solidFill>
                <a:latin typeface="+mj-lt"/>
                <a:cs typeface="Arial"/>
              </a:rPr>
              <a:t>an </a:t>
            </a:r>
            <a:r>
              <a:rPr sz="1400" spc="50" dirty="0">
                <a:solidFill>
                  <a:srgbClr val="6B7C97"/>
                </a:solidFill>
                <a:latin typeface="+mj-lt"/>
                <a:cs typeface="Arial"/>
              </a:rPr>
              <a:t>agreement</a:t>
            </a:r>
            <a:r>
              <a:rPr sz="1400" spc="345" dirty="0">
                <a:solidFill>
                  <a:srgbClr val="6B7C97"/>
                </a:solidFill>
                <a:latin typeface="+mj-lt"/>
                <a:cs typeface="Arial"/>
              </a:rPr>
              <a:t> </a:t>
            </a:r>
            <a:r>
              <a:rPr sz="1400" dirty="0">
                <a:solidFill>
                  <a:srgbClr val="6B7C97"/>
                </a:solidFill>
                <a:latin typeface="+mj-lt"/>
                <a:cs typeface="Arial"/>
              </a:rPr>
              <a:t>to</a:t>
            </a:r>
            <a:r>
              <a:rPr sz="1400" spc="345" dirty="0">
                <a:solidFill>
                  <a:srgbClr val="6B7C97"/>
                </a:solidFill>
                <a:latin typeface="+mj-lt"/>
                <a:cs typeface="Arial"/>
              </a:rPr>
              <a:t> </a:t>
            </a:r>
            <a:r>
              <a:rPr sz="1400" dirty="0">
                <a:solidFill>
                  <a:srgbClr val="6B7C97"/>
                </a:solidFill>
                <a:latin typeface="+mj-lt"/>
                <a:cs typeface="Arial"/>
              </a:rPr>
              <a:t>acquire</a:t>
            </a:r>
            <a:r>
              <a:rPr sz="1400" spc="200" dirty="0">
                <a:solidFill>
                  <a:srgbClr val="6B7C97"/>
                </a:solidFill>
                <a:latin typeface="+mj-lt"/>
                <a:cs typeface="Arial"/>
              </a:rPr>
              <a:t> </a:t>
            </a:r>
            <a:r>
              <a:rPr sz="1400" dirty="0">
                <a:solidFill>
                  <a:srgbClr val="6B7C97"/>
                </a:solidFill>
                <a:latin typeface="+mj-lt"/>
                <a:cs typeface="Arial"/>
              </a:rPr>
              <a:t>Saga</a:t>
            </a:r>
            <a:r>
              <a:rPr sz="1400" spc="190" dirty="0">
                <a:solidFill>
                  <a:srgbClr val="6B7C97"/>
                </a:solidFill>
                <a:latin typeface="+mj-lt"/>
                <a:cs typeface="Arial"/>
              </a:rPr>
              <a:t> </a:t>
            </a:r>
            <a:r>
              <a:rPr sz="1400" dirty="0">
                <a:solidFill>
                  <a:srgbClr val="6B7C97"/>
                </a:solidFill>
                <a:latin typeface="+mj-lt"/>
                <a:cs typeface="Arial"/>
              </a:rPr>
              <a:t>Diagnostics,</a:t>
            </a:r>
            <a:r>
              <a:rPr sz="1400" spc="345" dirty="0">
                <a:solidFill>
                  <a:srgbClr val="6B7C97"/>
                </a:solidFill>
                <a:latin typeface="+mj-lt"/>
                <a:cs typeface="Arial"/>
              </a:rPr>
              <a:t> </a:t>
            </a:r>
            <a:r>
              <a:rPr sz="1400" spc="50" dirty="0">
                <a:solidFill>
                  <a:srgbClr val="6B7C97"/>
                </a:solidFill>
                <a:latin typeface="+mj-lt"/>
                <a:cs typeface="Arial"/>
              </a:rPr>
              <a:t>with </a:t>
            </a:r>
            <a:r>
              <a:rPr sz="1400" dirty="0">
                <a:solidFill>
                  <a:srgbClr val="6B7C97"/>
                </a:solidFill>
                <a:latin typeface="+mj-lt"/>
                <a:cs typeface="Arial"/>
              </a:rPr>
              <a:t>Pathlight</a:t>
            </a:r>
            <a:r>
              <a:rPr sz="1400" spc="250" dirty="0">
                <a:solidFill>
                  <a:srgbClr val="6B7C97"/>
                </a:solidFill>
                <a:latin typeface="+mj-lt"/>
                <a:cs typeface="Arial"/>
              </a:rPr>
              <a:t> </a:t>
            </a:r>
            <a:r>
              <a:rPr sz="1400" spc="50" dirty="0">
                <a:solidFill>
                  <a:srgbClr val="6B7C97"/>
                </a:solidFill>
                <a:latin typeface="+mj-lt"/>
                <a:cs typeface="Arial"/>
              </a:rPr>
              <a:t>expected</a:t>
            </a:r>
            <a:r>
              <a:rPr sz="1400" spc="200" dirty="0">
                <a:solidFill>
                  <a:srgbClr val="6B7C97"/>
                </a:solidFill>
                <a:latin typeface="+mj-lt"/>
                <a:cs typeface="Arial"/>
              </a:rPr>
              <a:t> </a:t>
            </a:r>
            <a:r>
              <a:rPr sz="1400" dirty="0">
                <a:solidFill>
                  <a:srgbClr val="6B7C97"/>
                </a:solidFill>
                <a:latin typeface="+mj-lt"/>
                <a:cs typeface="Arial"/>
              </a:rPr>
              <a:t>to</a:t>
            </a:r>
            <a:r>
              <a:rPr sz="1400" spc="220" dirty="0">
                <a:solidFill>
                  <a:srgbClr val="6B7C97"/>
                </a:solidFill>
                <a:latin typeface="+mj-lt"/>
                <a:cs typeface="Arial"/>
              </a:rPr>
              <a:t> </a:t>
            </a:r>
            <a:r>
              <a:rPr sz="1400" spc="55" dirty="0">
                <a:solidFill>
                  <a:srgbClr val="6B7C97"/>
                </a:solidFill>
                <a:latin typeface="+mj-lt"/>
                <a:cs typeface="Arial"/>
              </a:rPr>
              <a:t>strengthen</a:t>
            </a:r>
            <a:r>
              <a:rPr sz="1400" spc="170" dirty="0">
                <a:solidFill>
                  <a:srgbClr val="6B7C97"/>
                </a:solidFill>
                <a:latin typeface="+mj-lt"/>
                <a:cs typeface="Arial"/>
              </a:rPr>
              <a:t> </a:t>
            </a:r>
            <a:r>
              <a:rPr sz="1400" spc="-10" dirty="0">
                <a:solidFill>
                  <a:srgbClr val="6B7C97"/>
                </a:solidFill>
                <a:latin typeface="+mj-lt"/>
                <a:cs typeface="Arial"/>
              </a:rPr>
              <a:t>Foundation </a:t>
            </a:r>
            <a:r>
              <a:rPr sz="1400" dirty="0">
                <a:solidFill>
                  <a:srgbClr val="6B7C97"/>
                </a:solidFill>
                <a:latin typeface="+mj-lt"/>
                <a:cs typeface="Arial"/>
              </a:rPr>
              <a:t>Medicine's</a:t>
            </a:r>
            <a:r>
              <a:rPr sz="1400" spc="320" dirty="0">
                <a:solidFill>
                  <a:srgbClr val="6B7C97"/>
                </a:solidFill>
                <a:latin typeface="+mj-lt"/>
                <a:cs typeface="Arial"/>
              </a:rPr>
              <a:t> </a:t>
            </a:r>
            <a:r>
              <a:rPr sz="1400" spc="60" dirty="0">
                <a:solidFill>
                  <a:srgbClr val="6B7C97"/>
                </a:solidFill>
                <a:latin typeface="+mj-lt"/>
                <a:cs typeface="Arial"/>
              </a:rPr>
              <a:t>monitoring</a:t>
            </a:r>
            <a:r>
              <a:rPr sz="1400" spc="254" dirty="0">
                <a:solidFill>
                  <a:srgbClr val="6B7C97"/>
                </a:solidFill>
                <a:latin typeface="+mj-lt"/>
                <a:cs typeface="Arial"/>
              </a:rPr>
              <a:t> </a:t>
            </a:r>
            <a:r>
              <a:rPr sz="1400" spc="50" dirty="0">
                <a:solidFill>
                  <a:srgbClr val="6B7C97"/>
                </a:solidFill>
                <a:latin typeface="+mj-lt"/>
                <a:cs typeface="Arial"/>
              </a:rPr>
              <a:t>portfolio</a:t>
            </a:r>
            <a:r>
              <a:rPr sz="1400" spc="335" dirty="0">
                <a:solidFill>
                  <a:srgbClr val="6B7C97"/>
                </a:solidFill>
                <a:latin typeface="+mj-lt"/>
                <a:cs typeface="Arial"/>
              </a:rPr>
              <a:t> </a:t>
            </a:r>
            <a:r>
              <a:rPr sz="1400" dirty="0">
                <a:solidFill>
                  <a:srgbClr val="6B7C97"/>
                </a:solidFill>
                <a:latin typeface="+mj-lt"/>
                <a:cs typeface="Arial"/>
              </a:rPr>
              <a:t>and</a:t>
            </a:r>
            <a:r>
              <a:rPr sz="1400" spc="110" dirty="0">
                <a:solidFill>
                  <a:srgbClr val="6B7C97"/>
                </a:solidFill>
                <a:latin typeface="+mj-lt"/>
                <a:cs typeface="Arial"/>
              </a:rPr>
              <a:t> </a:t>
            </a:r>
            <a:r>
              <a:rPr sz="1400" spc="45" dirty="0">
                <a:solidFill>
                  <a:srgbClr val="6B7C97"/>
                </a:solidFill>
                <a:latin typeface="+mj-lt"/>
                <a:cs typeface="Arial"/>
              </a:rPr>
              <a:t>support </a:t>
            </a:r>
            <a:r>
              <a:rPr sz="1400" spc="75" dirty="0">
                <a:solidFill>
                  <a:srgbClr val="6B7C97"/>
                </a:solidFill>
                <a:latin typeface="+mj-lt"/>
                <a:cs typeface="Arial"/>
              </a:rPr>
              <a:t>treatment</a:t>
            </a:r>
            <a:r>
              <a:rPr sz="1400" spc="204" dirty="0">
                <a:solidFill>
                  <a:srgbClr val="6B7C97"/>
                </a:solidFill>
                <a:latin typeface="+mj-lt"/>
                <a:cs typeface="Arial"/>
              </a:rPr>
              <a:t> </a:t>
            </a:r>
            <a:r>
              <a:rPr sz="1400" dirty="0">
                <a:solidFill>
                  <a:srgbClr val="6B7C97"/>
                </a:solidFill>
                <a:latin typeface="+mj-lt"/>
                <a:cs typeface="Arial"/>
              </a:rPr>
              <a:t>response</a:t>
            </a:r>
            <a:r>
              <a:rPr sz="1400" spc="310" dirty="0">
                <a:solidFill>
                  <a:srgbClr val="6B7C97"/>
                </a:solidFill>
                <a:latin typeface="+mj-lt"/>
                <a:cs typeface="Arial"/>
              </a:rPr>
              <a:t> </a:t>
            </a:r>
            <a:r>
              <a:rPr sz="1400" spc="70" dirty="0">
                <a:solidFill>
                  <a:srgbClr val="6B7C97"/>
                </a:solidFill>
                <a:latin typeface="+mj-lt"/>
                <a:cs typeface="Arial"/>
              </a:rPr>
              <a:t>and</a:t>
            </a:r>
            <a:r>
              <a:rPr sz="1400" spc="130" dirty="0">
                <a:solidFill>
                  <a:srgbClr val="6B7C97"/>
                </a:solidFill>
                <a:latin typeface="+mj-lt"/>
                <a:cs typeface="Arial"/>
              </a:rPr>
              <a:t> </a:t>
            </a:r>
            <a:r>
              <a:rPr sz="1400" dirty="0">
                <a:solidFill>
                  <a:srgbClr val="6B7C97"/>
                </a:solidFill>
                <a:latin typeface="+mj-lt"/>
                <a:cs typeface="Arial"/>
              </a:rPr>
              <a:t>recurrence</a:t>
            </a:r>
            <a:r>
              <a:rPr sz="1400" spc="229" dirty="0">
                <a:solidFill>
                  <a:srgbClr val="6B7C97"/>
                </a:solidFill>
                <a:latin typeface="+mj-lt"/>
                <a:cs typeface="Arial"/>
              </a:rPr>
              <a:t> </a:t>
            </a:r>
            <a:r>
              <a:rPr sz="1400" spc="50" dirty="0">
                <a:solidFill>
                  <a:srgbClr val="6B7C97"/>
                </a:solidFill>
                <a:latin typeface="+mj-lt"/>
                <a:cs typeface="Arial"/>
              </a:rPr>
              <a:t>monitoring.</a:t>
            </a:r>
            <a:endParaRPr sz="1400" dirty="0">
              <a:latin typeface="+mj-lt"/>
              <a:cs typeface="Arial"/>
            </a:endParaRPr>
          </a:p>
        </p:txBody>
      </p:sp>
      <p:sp>
        <p:nvSpPr>
          <p:cNvPr id="43" name="TekstSylinder 42">
            <a:extLst>
              <a:ext uri="{FF2B5EF4-FFF2-40B4-BE49-F238E27FC236}">
                <a16:creationId xmlns:a16="http://schemas.microsoft.com/office/drawing/2014/main" id="{10C13EF7-C376-543E-BDC7-6A3F6C02BD87}"/>
              </a:ext>
            </a:extLst>
          </p:cNvPr>
          <p:cNvSpPr txBox="1"/>
          <p:nvPr/>
        </p:nvSpPr>
        <p:spPr>
          <a:xfrm>
            <a:off x="6261100" y="16354149"/>
            <a:ext cx="971505" cy="246221"/>
          </a:xfrm>
          <a:prstGeom prst="rect">
            <a:avLst/>
          </a:prstGeom>
          <a:solidFill>
            <a:srgbClr val="FFFFFF"/>
          </a:solidFill>
        </p:spPr>
        <p:txBody>
          <a:bodyPr wrap="square" rtlCol="0">
            <a:spAutoFit/>
          </a:bodyPr>
          <a:lstStyle/>
          <a:p>
            <a:r>
              <a:rPr lang="nb-NO" sz="1000" b="1" dirty="0" err="1">
                <a:highlight>
                  <a:srgbClr val="FFFF00"/>
                </a:highlight>
              </a:rPr>
              <a:t>conribute</a:t>
            </a:r>
            <a:r>
              <a:rPr lang="nb-NO" sz="1000" b="1" dirty="0">
                <a:highlight>
                  <a:srgbClr val="FFFF00"/>
                </a:highlight>
              </a:rPr>
              <a:t> to</a:t>
            </a:r>
          </a:p>
        </p:txBody>
      </p:sp>
      <p:sp>
        <p:nvSpPr>
          <p:cNvPr id="46" name="TekstSylinder 45">
            <a:extLst>
              <a:ext uri="{FF2B5EF4-FFF2-40B4-BE49-F238E27FC236}">
                <a16:creationId xmlns:a16="http://schemas.microsoft.com/office/drawing/2014/main" id="{5CCFB760-BCD2-763F-2F1C-8C20541E16E1}"/>
              </a:ext>
            </a:extLst>
          </p:cNvPr>
          <p:cNvSpPr txBox="1"/>
          <p:nvPr/>
        </p:nvSpPr>
        <p:spPr>
          <a:xfrm>
            <a:off x="866851" y="7159166"/>
            <a:ext cx="2671645" cy="3176219"/>
          </a:xfrm>
          <a:prstGeom prst="rect">
            <a:avLst/>
          </a:prstGeom>
          <a:noFill/>
          <a:ln w="12700">
            <a:solidFill>
              <a:schemeClr val="accent1">
                <a:lumMod val="40000"/>
                <a:lumOff val="60000"/>
              </a:schemeClr>
            </a:solidFill>
          </a:ln>
        </p:spPr>
        <p:txBody>
          <a:bodyPr wrap="square" rtlCol="0">
            <a:spAutoFit/>
          </a:bodyPr>
          <a:lstStyle/>
          <a:p>
            <a:endParaRPr lang="nb-NO" dirty="0"/>
          </a:p>
        </p:txBody>
      </p:sp>
      <p:sp>
        <p:nvSpPr>
          <p:cNvPr id="47" name="TekstSylinder 46">
            <a:extLst>
              <a:ext uri="{FF2B5EF4-FFF2-40B4-BE49-F238E27FC236}">
                <a16:creationId xmlns:a16="http://schemas.microsoft.com/office/drawing/2014/main" id="{5D833A45-04A6-1E5D-BE8C-5F76C4987257}"/>
              </a:ext>
            </a:extLst>
          </p:cNvPr>
          <p:cNvSpPr txBox="1"/>
          <p:nvPr/>
        </p:nvSpPr>
        <p:spPr>
          <a:xfrm>
            <a:off x="4421030" y="7159166"/>
            <a:ext cx="2671645" cy="3176219"/>
          </a:xfrm>
          <a:prstGeom prst="rect">
            <a:avLst/>
          </a:prstGeom>
          <a:noFill/>
          <a:ln w="12700">
            <a:solidFill>
              <a:schemeClr val="accent1">
                <a:lumMod val="40000"/>
                <a:lumOff val="60000"/>
              </a:schemeClr>
            </a:solidFill>
          </a:ln>
        </p:spPr>
        <p:txBody>
          <a:bodyPr wrap="square" rtlCol="0">
            <a:spAutoFit/>
          </a:bodyPr>
          <a:lstStyle/>
          <a:p>
            <a:endParaRPr lang="nb-NO" dirty="0"/>
          </a:p>
        </p:txBody>
      </p:sp>
      <p:sp>
        <p:nvSpPr>
          <p:cNvPr id="48" name="TekstSylinder 47">
            <a:extLst>
              <a:ext uri="{FF2B5EF4-FFF2-40B4-BE49-F238E27FC236}">
                <a16:creationId xmlns:a16="http://schemas.microsoft.com/office/drawing/2014/main" id="{509BC6A2-4AE7-1959-5873-782DD700985B}"/>
              </a:ext>
            </a:extLst>
          </p:cNvPr>
          <p:cNvSpPr txBox="1"/>
          <p:nvPr/>
        </p:nvSpPr>
        <p:spPr>
          <a:xfrm>
            <a:off x="7839731" y="7149989"/>
            <a:ext cx="2671645" cy="3176219"/>
          </a:xfrm>
          <a:prstGeom prst="rect">
            <a:avLst/>
          </a:prstGeom>
          <a:noFill/>
          <a:ln w="12700">
            <a:solidFill>
              <a:schemeClr val="accent1">
                <a:lumMod val="40000"/>
                <a:lumOff val="60000"/>
              </a:schemeClr>
            </a:solidFill>
          </a:ln>
        </p:spPr>
        <p:txBody>
          <a:bodyPr wrap="square" rtlCol="0">
            <a:spAutoFit/>
          </a:bodyPr>
          <a:lstStyle/>
          <a:p>
            <a:endParaRPr lang="nb-NO" dirty="0"/>
          </a:p>
        </p:txBody>
      </p:sp>
    </p:spTree>
  </p:cSld>
  <p:clrMapOvr>
    <a:masterClrMapping/>
  </p:clrMapOvr>
  <p:transition>
    <p:cut/>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31</TotalTime>
  <Words>362</Words>
  <Application>Microsoft Office PowerPoint</Application>
  <PresentationFormat>Egendefinert</PresentationFormat>
  <Paragraphs>24</Paragraphs>
  <Slides>1</Slides>
  <Notes>0</Notes>
  <HiddenSlides>0</HiddenSlides>
  <MMClips>0</MMClips>
  <ScaleCrop>false</ScaleCrop>
  <HeadingPairs>
    <vt:vector size="6" baseType="variant">
      <vt:variant>
        <vt:lpstr>Brukte skrifter</vt:lpstr>
      </vt:variant>
      <vt:variant>
        <vt:i4>2</vt:i4>
      </vt:variant>
      <vt:variant>
        <vt:lpstr>Tema</vt:lpstr>
      </vt:variant>
      <vt:variant>
        <vt:i4>1</vt:i4>
      </vt:variant>
      <vt:variant>
        <vt:lpstr>Lysbildetitler</vt:lpstr>
      </vt:variant>
      <vt:variant>
        <vt:i4>1</vt:i4>
      </vt:variant>
    </vt:vector>
  </HeadingPairs>
  <TitlesOfParts>
    <vt:vector size="4" baseType="lpstr">
      <vt:lpstr>Arial</vt:lpstr>
      <vt:lpstr>Calibri</vt:lpstr>
      <vt:lpstr>Office Theme</vt:lpstr>
      <vt:lpstr>PowerPoint-presentasjon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untitled</dc:title>
  <dc:subject>unspecified</dc:subject>
  <dc:creator>anonymous</dc:creator>
  <cp:lastModifiedBy>Camilla Olsen</cp:lastModifiedBy>
  <cp:revision>1</cp:revision>
  <dcterms:created xsi:type="dcterms:W3CDTF">2026-04-30T11:39:21Z</dcterms:created>
  <dcterms:modified xsi:type="dcterms:W3CDTF">2026-04-30T12:11:01Z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2026-04-30T00:00:00Z</vt:filetime>
  </property>
  <property fmtid="{D5CDD505-2E9C-101B-9397-08002B2CF9AE}" pid="3" name="Creator">
    <vt:lpwstr>anonymous</vt:lpwstr>
  </property>
  <property fmtid="{D5CDD505-2E9C-101B-9397-08002B2CF9AE}" pid="4" name="LastSaved">
    <vt:filetime>2026-04-30T00:00:00Z</vt:filetime>
  </property>
  <property fmtid="{D5CDD505-2E9C-101B-9397-08002B2CF9AE}" pid="5" name="Producer">
    <vt:lpwstr>ReportLab PDF Library - (opensource)</vt:lpwstr>
  </property>
</Properties>
</file>